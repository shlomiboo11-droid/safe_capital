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4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7200" b="1" i="0">
                <a:solidFill>
                  <a:srgbClr val="FFFFFF"/>
                </a:solidFill>
                <a:latin typeface="Arial"/>
              </a:rPr>
              <a:t>סייף קפיטל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800" b="0" i="0">
                <a:solidFill>
                  <a:srgbClr val="8AA4CC"/>
                </a:solidFill>
                <a:latin typeface="Arial"/>
              </a:rPr>
              <a:t>SAFE CAPITAL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46120"/>
            <a:ext cx="3931920" cy="3810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0" i="0">
                <a:solidFill>
                  <a:srgbClr val="FBF8F3"/>
                </a:solidFill>
                <a:latin typeface="Arial"/>
              </a:rPr>
              <a:t>נדל"ן אמריקאי. ניהול ישראלי. אתם ראשונים ברווח.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8AA4CC"/>
                </a:solidFill>
                <a:latin typeface="Arial"/>
              </a:rPr>
              <a:t>השקעות Flip בבירמינגהם, אלבמה — עבור משקיעים ישראלים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6B7A8D"/>
                </a:solidFill>
                <a:latin typeface="Arial"/>
              </a:rPr>
              <a:t>מצגת לפגישה אישית — חסוי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AABBCC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200" b="1" i="0">
                <a:solidFill>
                  <a:srgbClr val="022445"/>
                </a:solidFill>
                <a:latin typeface="Arial"/>
              </a:rPr>
              <a:t>הסיפור שלנו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0" i="0">
                <a:solidFill>
                  <a:srgbClr val="43474E"/>
                </a:solidFill>
                <a:latin typeface="Arial"/>
              </a:rPr>
              <a:t>למה סייף קפיטל?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3657600" cy="2540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45352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200"/>
              </a:spcAft>
            </a:pPr>
            <a:r>
              <a:rPr sz="1400" b="0">
                <a:solidFill>
                  <a:srgbClr val="43474E"/>
                </a:solidFill>
                <a:latin typeface="Arial"/>
              </a:rPr>
              <a:t>הכל התחיל עם איתן.</a:t>
            </a:r>
          </a:p>
          <a:p>
            <a:pPr algn="r" a:rtl="1">
              <a:spcAft>
                <a:spcPts val="200"/>
              </a:spcAft>
            </a:pPr>
            <a:r>
              <a:rPr sz="1400" b="0">
                <a:solidFill>
                  <a:srgbClr val="43474E"/>
                </a:solidFill>
                <a:latin typeface="Arial"/>
              </a:rPr>
              <a:t/>
            </a:r>
          </a:p>
          <a:p>
            <a:pPr algn="r" a:rtl="1">
              <a:spcAft>
                <a:spcPts val="200"/>
              </a:spcAft>
            </a:pPr>
            <a:r>
              <a:rPr sz="1400" b="0">
                <a:solidFill>
                  <a:srgbClr val="43474E"/>
                </a:solidFill>
                <a:latin typeface="Arial"/>
              </a:rPr>
              <a:t>לפני כמה שנים, איתן החל לחקור את שוק הנדל"ן האמריקאי.</a:t>
            </a:r>
          </a:p>
          <a:p>
            <a:pPr algn="r" a:rtl="1">
              <a:spcAft>
                <a:spcPts val="200"/>
              </a:spcAft>
            </a:pPr>
            <a:r>
              <a:rPr sz="1400" b="0">
                <a:solidFill>
                  <a:srgbClr val="43474E"/>
                </a:solidFill>
                <a:latin typeface="Arial"/>
              </a:rPr>
              <a:t>הוא ביקר בעשרות ערים, קרא מאות דוחות שוק, ובסוף</a:t>
            </a:r>
          </a:p>
          <a:p>
            <a:pPr algn="r" a:rtl="1">
              <a:spcAft>
                <a:spcPts val="200"/>
              </a:spcAft>
            </a:pPr>
            <a:r>
              <a:rPr sz="1400" b="0">
                <a:solidFill>
                  <a:srgbClr val="43474E"/>
                </a:solidFill>
                <a:latin typeface="Arial"/>
              </a:rPr>
              <a:t>הגיע לאותה מסקנה: בירמינגהם, אלבמה.</a:t>
            </a:r>
          </a:p>
          <a:p>
            <a:pPr algn="r" a:rtl="1">
              <a:spcAft>
                <a:spcPts val="200"/>
              </a:spcAft>
            </a:pPr>
            <a:r>
              <a:rPr sz="1400" b="0">
                <a:solidFill>
                  <a:srgbClr val="43474E"/>
                </a:solidFill>
                <a:latin typeface="Arial"/>
              </a:rPr>
              <a:t/>
            </a:r>
          </a:p>
          <a:p>
            <a:pPr algn="r" a:rtl="1">
              <a:spcAft>
                <a:spcPts val="200"/>
              </a:spcAft>
            </a:pPr>
            <a:r>
              <a:rPr sz="1400" b="0">
                <a:solidFill>
                  <a:srgbClr val="43474E"/>
                </a:solidFill>
                <a:latin typeface="Arial"/>
              </a:rPr>
              <a:t>שם גילה שבשכונות היוקרה — Homewood, Mountain Brook —</a:t>
            </a:r>
          </a:p>
          <a:p>
            <a:pPr algn="r" a:rtl="1">
              <a:spcAft>
                <a:spcPts val="200"/>
              </a:spcAft>
            </a:pPr>
            <a:r>
              <a:rPr sz="1400" b="0">
                <a:solidFill>
                  <a:srgbClr val="43474E"/>
                </a:solidFill>
                <a:latin typeface="Arial"/>
              </a:rPr>
              <a:t>כמעט ואין בנייה חדשה. כשיוצא בית ישן למכירה, יש תור</a:t>
            </a:r>
          </a:p>
          <a:p>
            <a:pPr algn="r" a:rtl="1">
              <a:spcAft>
                <a:spcPts val="200"/>
              </a:spcAft>
            </a:pPr>
            <a:r>
              <a:rPr sz="1400" b="0">
                <a:solidFill>
                  <a:srgbClr val="43474E"/>
                </a:solidFill>
                <a:latin typeface="Arial"/>
              </a:rPr>
              <a:t>של קונים. הפוטנציאל לרווח מהשבחה היה ברור.</a:t>
            </a:r>
          </a:p>
          <a:p>
            <a:pPr algn="r" a:rtl="1">
              <a:spcAft>
                <a:spcPts val="200"/>
              </a:spcAft>
            </a:pPr>
            <a:r>
              <a:rPr sz="1400" b="0">
                <a:solidFill>
                  <a:srgbClr val="43474E"/>
                </a:solidFill>
                <a:latin typeface="Arial"/>
              </a:rPr>
              <a:t/>
            </a:r>
          </a:p>
          <a:p>
            <a:pPr algn="r" a:rtl="1">
              <a:spcAft>
                <a:spcPts val="200"/>
              </a:spcAft>
            </a:pPr>
            <a:r>
              <a:rPr sz="1400" b="0">
                <a:solidFill>
                  <a:srgbClr val="43474E"/>
                </a:solidFill>
                <a:latin typeface="Arial"/>
              </a:rPr>
              <a:t>לאחר עסקה ראשונה מוצלחת, שלומי, עדי וחוטר הצטרפו.</a:t>
            </a:r>
          </a:p>
          <a:p>
            <a:pPr algn="r" a:rtl="1">
              <a:spcAft>
                <a:spcPts val="200"/>
              </a:spcAft>
            </a:pPr>
            <a:r>
              <a:rPr sz="1400" b="0">
                <a:solidFill>
                  <a:srgbClr val="43474E"/>
                </a:solidFill>
                <a:latin typeface="Arial"/>
              </a:rPr>
              <a:t>ביחד — פתחנו את סייף קפיטל לשותפים.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022445"/>
                </a:solidFill>
                <a:latin typeface="Arial"/>
              </a:rPr>
              <a:t>שלומי דוד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984349"/>
                </a:solidFill>
                <a:latin typeface="Arial"/>
              </a:rPr>
              <a:t>מייסד ומנכ"ל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906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022445"/>
                </a:solidFill>
                <a:latin typeface="Arial"/>
              </a:rPr>
              <a:t>איתן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984349"/>
                </a:solidFill>
                <a:latin typeface="Arial"/>
              </a:rPr>
              <a:t>מנהל רכישות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9768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4622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022445"/>
                </a:solidFill>
                <a:latin typeface="Arial"/>
              </a:rPr>
              <a:t>עדי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984349"/>
                </a:solidFill>
                <a:latin typeface="Arial"/>
              </a:rPr>
              <a:t>יחסי משקיעים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66928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833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022445"/>
                </a:solidFill>
                <a:latin typeface="Arial"/>
              </a:rPr>
              <a:t>חוטר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217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984349"/>
                </a:solidFill>
                <a:latin typeface="Arial"/>
              </a:rPr>
              <a:t>יחסי משקיעים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BF8F3"/>
                </a:solidFill>
                <a:latin typeface="Arial"/>
              </a:rPr>
              <a:t>אנחנו לא חברה אנונימית — אנחנו ארבעה שותפים שמשקיעים מהכיס שלנו בכל עסקה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AABBCC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4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200" b="1" i="0">
                <a:solidFill>
                  <a:srgbClr val="FFFFFF"/>
                </a:solidFill>
                <a:latin typeface="Arial"/>
              </a:rPr>
              <a:t>השיטה שלנו — לא הימור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0" i="0">
                <a:solidFill>
                  <a:srgbClr val="AABBCC"/>
                </a:solidFill>
                <a:latin typeface="Arial"/>
              </a:rPr>
              <a:t>6 שלבים לפני כל עסקה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3657600" cy="2540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9632" y="1508760"/>
            <a:ext cx="411480" cy="41148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9632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2552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איתור נכס ישן מתחת לשוק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2552" y="1828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המתווכים שלנו מאתרים לפני שהנכס יוצא לשוק הפתוח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2304288"/>
            <a:ext cx="411480" cy="41148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2304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23042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בדיקת היתכנות בנייה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סטרוקטורה, היתרים, בעיות נסתרות — הכל נבדק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3099816"/>
            <a:ext cx="411480" cy="41148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30998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30998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תכנית השבחה + חישוב רווח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34198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מחשבים עלויות מלאות ובודקים אם הרווח מצדיק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95344"/>
            <a:ext cx="411480" cy="41148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38953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38953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שמאי + השוואת Comps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42153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שמאי מעריך ARV. משווים לנכסים שנמכרו לאחרונה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4690872"/>
            <a:ext cx="411480" cy="41148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4690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46908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אישור גוף מימון חיצוני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50109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Hard Money Lender בודק את התוכנית באופן בלתי תלוי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5486400"/>
            <a:ext cx="411480" cy="41148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5486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5486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יציאה לעבודה — עד 12 חודשים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5806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רק אחרי שכל הצ'ק-ליסט מאושר — רוכשים ומתחילים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 i="0">
                <a:solidFill>
                  <a:srgbClr val="FBF8F3"/>
                </a:solidFill>
                <a:latin typeface="Arial"/>
              </a:rPr>
              <a:t>אנשי המקצוע שלנו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057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BF8F3"/>
                </a:solidFill>
                <a:latin typeface="Arial"/>
              </a:rPr>
              <a:t>• מתווכים מקומיים — מביאים עסקאות לפני השוק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7249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BF8F3"/>
                </a:solidFill>
                <a:latin typeface="Arial"/>
              </a:rPr>
              <a:t>• קבלני שיפוץ קבועים — אותם אנשים, אותה איכות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39242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BF8F3"/>
                </a:solidFill>
                <a:latin typeface="Arial"/>
              </a:rPr>
              <a:t>• שמאים מוסמכים — ARV אובייקטיבי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05993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BF8F3"/>
                </a:solidFill>
                <a:latin typeface="Arial"/>
              </a:rPr>
              <a:t>• עורך דין אמריקאי + עורך דין ישראלי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7274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BF8F3"/>
                </a:solidFill>
                <a:latin typeface="Arial"/>
              </a:rPr>
              <a:t>• רואה חשבון שמכיר את שני הצדדים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394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BF8F3"/>
                </a:solidFill>
                <a:latin typeface="Arial"/>
              </a:rPr>
              <a:t>• Hard Money Lender — אישור בלתי תלוי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AABBCC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200" b="1" i="0">
                <a:solidFill>
                  <a:srgbClr val="022445"/>
                </a:solidFill>
                <a:latin typeface="Arial"/>
              </a:rPr>
              <a:t>למה בירמינגהם, אלבמה?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0" i="0">
                <a:solidFill>
                  <a:srgbClr val="43474E"/>
                </a:solidFill>
                <a:latin typeface="Arial"/>
              </a:rPr>
              <a:t>שוק שבחרנו בכוונה — לא במקרה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4572000" cy="2540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1488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1" i="0">
                <a:solidFill>
                  <a:srgbClr val="984349"/>
                </a:solidFill>
                <a:latin typeface="Arial"/>
              </a:rPr>
              <a:t>879,000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43474E"/>
                </a:solidFill>
                <a:latin typeface="Arial"/>
              </a:rPr>
              <a:t>תושבי מטרו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9192" y="1508760"/>
            <a:ext cx="21488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618488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1" i="0">
                <a:solidFill>
                  <a:srgbClr val="984349"/>
                </a:solidFill>
                <a:latin typeface="Arial"/>
              </a:rPr>
              <a:t>+5,700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21945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43474E"/>
                </a:solidFill>
                <a:latin typeface="Arial"/>
              </a:rPr>
              <a:t>תושבים חדשים בשנה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4" y="1508760"/>
            <a:ext cx="21488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4064" y="1618488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1" i="0">
                <a:solidFill>
                  <a:srgbClr val="984349"/>
                </a:solidFill>
                <a:latin typeface="Arial"/>
              </a:rPr>
              <a:t>2.2%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21945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43474E"/>
                </a:solidFill>
                <a:latin typeface="Arial"/>
              </a:rPr>
              <a:t>שיעור אבטלה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06056" y="1508760"/>
            <a:ext cx="21488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7496" y="1618488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1" i="0">
                <a:solidFill>
                  <a:srgbClr val="984349"/>
                </a:solidFill>
                <a:latin typeface="Arial"/>
              </a:rPr>
              <a:t>$919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1945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43474E"/>
                </a:solidFill>
                <a:latin typeface="Arial"/>
              </a:rPr>
              <a:t>מס נכס שנתי
(vs. $2,400 ארצי)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9488" y="1508760"/>
            <a:ext cx="21488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0928" y="1618488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1" i="0">
                <a:solidFill>
                  <a:srgbClr val="984349"/>
                </a:solidFill>
                <a:latin typeface="Arial"/>
              </a:rPr>
              <a:t>$12.1B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21945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43474E"/>
                </a:solidFill>
                <a:latin typeface="Arial"/>
              </a:rPr>
              <a:t>השפעה כלכלית
שנתית של UAB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71800"/>
            <a:ext cx="11457432" cy="1234440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3580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</a:rPr>
              <a:t>🏘  ההזדמנות: בשכונות Homewood, Mountain Brook, Vestavia Hills — כמעט אין בנייה חדשה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5643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BF8F3"/>
                </a:solidFill>
                <a:latin typeface="Arial"/>
              </a:rPr>
              <a:t>כשיוצא בית ישן למכירה — זה נדיר. יש תור קונים. אנחנו קונים, משפצים, מוכרים לאותו תור.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43400"/>
            <a:ext cx="26517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074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022445"/>
                </a:solidFill>
                <a:latin typeface="Arial"/>
              </a:rPr>
              <a:t>Homewood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09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43474E"/>
                </a:solidFill>
                <a:latin typeface="Arial"/>
              </a:rPr>
              <a:t>בתי ספר מצוינים, בוטיקים, ביקוש קבוע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4343400"/>
            <a:ext cx="26517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44074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022445"/>
                </a:solidFill>
                <a:latin typeface="Arial"/>
              </a:rPr>
              <a:t>Mountain Brook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4709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43474E"/>
                </a:solidFill>
                <a:latin typeface="Arial"/>
              </a:rPr>
              <a:t>היוקרתית ביותר — מחירים גבוהים במיוחד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71616" y="4343400"/>
            <a:ext cx="26517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63056" y="44074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022445"/>
                </a:solidFill>
                <a:latin typeface="Arial"/>
              </a:rPr>
              <a:t>Vestavia Hills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63056" y="4709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43474E"/>
                </a:solidFill>
                <a:latin typeface="Arial"/>
              </a:rPr>
              <a:t>משפחות, ביקוש גובר, מיקום אסטרטגי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24544" y="4343400"/>
            <a:ext cx="26517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15984" y="44074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022445"/>
                </a:solidFill>
                <a:latin typeface="Arial"/>
              </a:rPr>
              <a:t>Hoover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5984" y="4709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43474E"/>
                </a:solidFill>
                <a:latin typeface="Arial"/>
              </a:rPr>
              <a:t>צמיחה מהירה, ביקוש לבתים מאובזרים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550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43474E"/>
                </a:solidFill>
                <a:latin typeface="Arial"/>
              </a:rPr>
              <a:t>UAB — המעסיק הגדול באלבמה: 28,000 עובדים, המדורג #1 בבתי חולים 12 שנה ברציפות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74777F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4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200" b="1" i="0">
                <a:solidFill>
                  <a:srgbClr val="FFFFFF"/>
                </a:solidFill>
                <a:latin typeface="Arial"/>
              </a:rPr>
              <a:t>ההצעה — ברורה ושקופה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3200400" cy="2540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3796" y="1280160"/>
            <a:ext cx="3383280" cy="13716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6" y="13716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600" b="1" i="0">
                <a:solidFill>
                  <a:srgbClr val="984349"/>
                </a:solidFill>
                <a:latin typeface="Arial"/>
              </a:rPr>
              <a:t>$50,000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" y="2011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FBF8F3"/>
                </a:solidFill>
                <a:latin typeface="Arial"/>
              </a:rPr>
              <a:t>השקעה מינימלית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2836" y="1280160"/>
            <a:ext cx="3383280" cy="13716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2836" y="13716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600" b="1" i="0">
                <a:solidFill>
                  <a:srgbClr val="984349"/>
                </a:solidFill>
                <a:latin typeface="Arial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2836" y="2011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FBF8F3"/>
                </a:solidFill>
                <a:latin typeface="Arial"/>
              </a:rPr>
              <a:t>Preferred Return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1876" y="1280160"/>
            <a:ext cx="3383280" cy="13716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1876" y="13716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600" b="1" i="0">
                <a:solidFill>
                  <a:srgbClr val="984349"/>
                </a:solidFill>
                <a:latin typeface="Arial"/>
              </a:rPr>
              <a:t>6–12 חודשים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1876" y="2011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FBF8F3"/>
                </a:solidFill>
                <a:latin typeface="Arial"/>
              </a:rPr>
              <a:t>משך עסקה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 i="0">
                <a:solidFill>
                  <a:srgbClr val="FFFFFF"/>
                </a:solidFill>
                <a:latin typeface="Arial"/>
              </a:rPr>
              <a:t>איך זה עובד: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5303520" cy="13716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10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עסקה הצליחה טוב (26% רווח)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39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BF8F3"/>
                </a:solidFill>
                <a:latin typeface="Arial"/>
              </a:rPr>
              <a:t>אתם מקבלים: 20%    |    אנחנו מקבלים: 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6BC98A"/>
                </a:solidFill>
                <a:latin typeface="Arial"/>
              </a:rPr>
              <a:t>✅ תרחיש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246120"/>
            <a:ext cx="5303520" cy="13716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10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עסקה הצליחה סבירות (17% רווח)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39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BF8F3"/>
                </a:solidFill>
                <a:latin typeface="Arial"/>
              </a:rPr>
              <a:t>אתם מקבלים: 17% (הכל)    |    אנחנו: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6BC98A"/>
                </a:solidFill>
                <a:latin typeface="Arial"/>
              </a:rPr>
              <a:t>✅ תרחיש 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00600"/>
            <a:ext cx="11274552" cy="82296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 i="0">
                <a:solidFill>
                  <a:srgbClr val="FFFFFF"/>
                </a:solidFill>
                <a:latin typeface="Arial"/>
              </a:rPr>
              <a:t>האינטרסים שלנו מיושרים לחלוטין — אנחנו לא נרוויח אם אתם לא תרוויחו קודם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AABBCC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200" b="1" i="0">
                <a:solidFill>
                  <a:srgbClr val="022445"/>
                </a:solidFill>
                <a:latin typeface="Arial"/>
              </a:rPr>
              <a:t>לא עסקה — מערכת יחסים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0" i="0">
                <a:solidFill>
                  <a:srgbClr val="43474E"/>
                </a:solidFill>
                <a:latin typeface="Arial"/>
              </a:rPr>
              <a:t>הכסף שלך עובד שוב ושוב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3657600" cy="2540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1645920"/>
            <a:ext cx="2560320" cy="777240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71907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השקעה ראשונה
$50,000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2560320"/>
            <a:ext cx="2560320" cy="777240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263347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עסקה מסתיימת
(6-12 חודש)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4389120"/>
            <a:ext cx="2560320" cy="777240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46227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רווח $10,000
עובר אליכם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4389120"/>
            <a:ext cx="2560320" cy="777240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446227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הקרן נשארת
בחשבון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560320"/>
            <a:ext cx="2560320" cy="777240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63347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עסקה הבאה
מיידית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09160"/>
            <a:ext cx="11457432" cy="77724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 i="0">
                <a:solidFill>
                  <a:srgbClr val="FBF8F3"/>
                </a:solidFill>
                <a:latin typeface="Arial"/>
              </a:rPr>
              <a:t>דוגמה: $50,000 × שתי עסקאות × 20% = $20,000 רווח בשנה | לעומת ~$1,500 בפיקדון ישראלי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34747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6418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022445"/>
                </a:solidFill>
                <a:latin typeface="Arial"/>
              </a:rPr>
              <a:t>🔄  השאר הכל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43474E"/>
                </a:solidFill>
                <a:latin typeface="Arial"/>
              </a:rPr>
              <a:t>קרן + רווח ממשיכים לעסקה הבאה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5577840"/>
            <a:ext cx="34747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56418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022445"/>
                </a:solidFill>
                <a:latin typeface="Arial"/>
              </a:rPr>
              <a:t>💸  קח את הרווח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943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43474E"/>
                </a:solidFill>
                <a:latin typeface="Arial"/>
              </a:rPr>
              <a:t>הרווח עובר לישראל, הקרן ממשיכה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5577840"/>
            <a:ext cx="34747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56418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022445"/>
                </a:solidFill>
                <a:latin typeface="Arial"/>
              </a:rPr>
              <a:t>🏦  צא לגמרי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5943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43474E"/>
                </a:solidFill>
                <a:latin typeface="Arial"/>
              </a:rPr>
              <a:t>קרן + רווח חוזרים לחשבון שלך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74777F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4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200" b="1" i="0">
                <a:solidFill>
                  <a:srgbClr val="FFFFFF"/>
                </a:solidFill>
                <a:latin typeface="Arial"/>
              </a:rPr>
              <a:t>מה שכבר עשינו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0" i="0">
                <a:solidFill>
                  <a:srgbClr val="AABBCC"/>
                </a:solidFill>
                <a:latin typeface="Arial"/>
              </a:rPr>
              <a:t>הוכחה — לא רק מילים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3200400" cy="2540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1463040"/>
            <a:ext cx="2651760" cy="118872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000" b="1" i="0">
                <a:solidFill>
                  <a:srgbClr val="984349"/>
                </a:solidFill>
                <a:latin typeface="Arial"/>
              </a:rPr>
              <a:t>[X]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BF8F3"/>
                </a:solidFill>
                <a:latin typeface="Arial"/>
              </a:rPr>
              <a:t>עסקאות מושלמות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2696" y="1463040"/>
            <a:ext cx="2651760" cy="118872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2696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000" b="1" i="0">
                <a:solidFill>
                  <a:srgbClr val="984349"/>
                </a:solidFill>
                <a:latin typeface="Arial"/>
              </a:rPr>
              <a:t>[X]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2696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BF8F3"/>
                </a:solidFill>
                <a:latin typeface="Arial"/>
              </a:rPr>
              <a:t>משקיעים פעילים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1463040"/>
            <a:ext cx="2651760" cy="118872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000" b="1" i="0">
                <a:solidFill>
                  <a:srgbClr val="984349"/>
                </a:solidFill>
                <a:latin typeface="Arial"/>
              </a:rPr>
              <a:t>[$X]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BF8F3"/>
                </a:solidFill>
                <a:latin typeface="Arial"/>
              </a:rPr>
              <a:t>הון מנוהל מצטבר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26296" y="1463040"/>
            <a:ext cx="2651760" cy="118872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000" b="1" i="0">
                <a:solidFill>
                  <a:srgbClr val="984349"/>
                </a:solidFill>
                <a:latin typeface="Arial"/>
              </a:rPr>
              <a:t>[X%]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6296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BF8F3"/>
                </a:solidFill>
                <a:latin typeface="Arial"/>
              </a:rPr>
              <a:t>ROI ממוצע מאומת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" y="2880360"/>
            <a:ext cx="3474720" cy="256032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" y="2971800"/>
            <a:ext cx="1371600" cy="292608"/>
          </a:xfrm>
          <a:prstGeom prst="rect">
            <a:avLst/>
          </a:prstGeom>
          <a:solidFill>
            <a:srgbClr val="2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" y="2971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000" b="1" i="0">
                <a:solidFill>
                  <a:srgbClr val="FFFFFF"/>
                </a:solidFill>
                <a:latin typeface="Arial"/>
              </a:rPr>
              <a:t>הושלם בהצלחה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" y="3337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206 Mountain 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" y="3730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8AA4CC"/>
                </a:solidFill>
                <a:latin typeface="Arial"/>
              </a:rPr>
              <a:t>Homewood, 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CCCC44"/>
                </a:solidFill>
                <a:latin typeface="Arial"/>
              </a:rPr>
              <a:t>[מחיר רכישה / מכירה / ROI]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7116" y="2880360"/>
            <a:ext cx="3474720" cy="256032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94276" y="2971800"/>
            <a:ext cx="1371600" cy="292608"/>
          </a:xfrm>
          <a:prstGeom prst="rect">
            <a:avLst/>
          </a:prstGeom>
          <a:solidFill>
            <a:srgbClr val="2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4276" y="2971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000" b="1" i="0">
                <a:solidFill>
                  <a:srgbClr val="FFFFFF"/>
                </a:solidFill>
                <a:latin typeface="Arial"/>
              </a:rPr>
              <a:t>הושלם בהצלחה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4276" y="3337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3425 Ridge Dell Cir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4276" y="3730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8AA4CC"/>
                </a:solidFill>
                <a:latin typeface="Arial"/>
              </a:rPr>
              <a:t>Birmingham, 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4276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CCCC44"/>
                </a:solidFill>
                <a:latin typeface="Arial"/>
              </a:rPr>
              <a:t>[מחיר רכישה / מכירה / ROI]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9308" y="2880360"/>
            <a:ext cx="3474720" cy="256032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16468" y="2971800"/>
            <a:ext cx="1371600" cy="292608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6468" y="2971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000" b="1" i="0">
                <a:solidFill>
                  <a:srgbClr val="FFFFFF"/>
                </a:solidFill>
                <a:latin typeface="Arial"/>
              </a:rPr>
              <a:t>בעבודה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6468" y="3337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1513 Oxmoor 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6468" y="3730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8AA4CC"/>
                </a:solidFill>
                <a:latin typeface="Arial"/>
              </a:rPr>
              <a:t>Birmingham, 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6468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CCCC44"/>
                </a:solidFill>
                <a:latin typeface="Arial"/>
              </a:rPr>
              <a:t>[מחיר רכישה / מכירה / ROI]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000" b="0" i="0">
                <a:solidFill>
                  <a:srgbClr val="8AA4CC"/>
                </a:solidFill>
                <a:latin typeface="Arial"/>
              </a:rPr>
              <a:t>* נתוני Track Record לאימות סופי לפני הפגישה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AABBCC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200" b="1" i="0">
                <a:solidFill>
                  <a:srgbClr val="022445"/>
                </a:solidFill>
                <a:latin typeface="Arial"/>
              </a:rPr>
              <a:t>העסקה שלפניכם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0" i="0">
                <a:solidFill>
                  <a:srgbClr val="43474E"/>
                </a:solidFill>
                <a:latin typeface="Arial"/>
              </a:rPr>
              <a:t>1513 Oxmoor Rd, Birmingham AL 35209  |  Homewood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4572000" cy="2540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200400" cy="1325880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FBF8F3"/>
                </a:solidFill>
                <a:latin typeface="Arial"/>
              </a:rPr>
              <a:t>לפני שיפוץ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  <a:latin typeface="Arial"/>
              </a:rPr>
              <a:t>2 חד' | 2 מקלחות | 1,600 sqft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1" i="0">
                <a:solidFill>
                  <a:srgbClr val="984349"/>
                </a:solidFill>
                <a:latin typeface="Arial"/>
              </a:rPr>
              <a:t>←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463040"/>
            <a:ext cx="3200400" cy="132588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536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FBF8F3"/>
                </a:solidFill>
                <a:latin typeface="Arial"/>
              </a:rPr>
              <a:t>אחרי שיפוץ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rial"/>
              </a:rPr>
              <a:t>5 חד' | 4 מקלחות | 3,000 sqft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43474E"/>
                </a:solidFill>
                <a:latin typeface="Arial"/>
              </a:rPr>
              <a:t>מחיר רכישה:          $475,000</a:t>
            </a:r>
          </a:p>
          <a:p>
            <a:pPr algn="r" a:rtl="1"/>
            <a:r>
              <a:rPr sz="1300" b="0">
                <a:solidFill>
                  <a:srgbClr val="43474E"/>
                </a:solidFill>
                <a:latin typeface="Arial"/>
              </a:rPr>
              <a:t>עלות שיפוץ (קבלן):   $505,000</a:t>
            </a:r>
          </a:p>
          <a:p>
            <a:pPr algn="r" a:rtl="1"/>
            <a:r>
              <a:rPr sz="1300" b="0">
                <a:solidFill>
                  <a:srgbClr val="43474E"/>
                </a:solidFill>
                <a:latin typeface="Arial"/>
              </a:rPr>
              <a:t>עלויות נלוות:           $22,600</a:t>
            </a:r>
          </a:p>
          <a:p>
            <a:pPr algn="r" a:rtl="1"/>
            <a:r>
              <a:rPr sz="1300" b="0">
                <a:solidFill>
                  <a:srgbClr val="43474E"/>
                </a:solidFill>
                <a:latin typeface="Arial"/>
              </a:rPr>
              <a:t>עלויות החזקה (8 חו'):    $7,848</a:t>
            </a:r>
          </a:p>
          <a:p>
            <a:pPr algn="r" a:rtl="1"/>
            <a:r>
              <a:rPr sz="1300" b="0">
                <a:solidFill>
                  <a:srgbClr val="43474E"/>
                </a:solidFill>
                <a:latin typeface="Arial"/>
              </a:rPr>
              <a:t>מימון (HML):           $71,402</a:t>
            </a:r>
          </a:p>
          <a:p>
            <a:pPr algn="r" a:rtl="1"/>
            <a:r>
              <a:rPr sz="1100" b="0">
                <a:solidFill>
                  <a:srgbClr val="CCCCCC"/>
                </a:solidFill>
                <a:latin typeface="Arial"/>
              </a:rPr>
              <a:t>─────────────────────────────</a:t>
            </a:r>
          </a:p>
          <a:p>
            <a:pPr algn="r" a:rtl="1"/>
            <a:r>
              <a:rPr sz="1400" b="1">
                <a:solidFill>
                  <a:srgbClr val="022445"/>
                </a:solidFill>
                <a:latin typeface="Arial"/>
              </a:rPr>
              <a:t>סך עלות כוללת:    $1,082,000</a:t>
            </a:r>
          </a:p>
          <a:p>
            <a:pPr algn="r" a:rtl="1"/>
            <a:r>
              <a:rPr sz="800" b="0">
                <a:solidFill>
                  <a:srgbClr val="43474E"/>
                </a:solidFill>
                <a:latin typeface="Arial"/>
              </a:rPr>
              <a:t> </a:t>
            </a:r>
          </a:p>
          <a:p>
            <a:pPr algn="r" a:rtl="1"/>
            <a:r>
              <a:rPr sz="1300" b="0">
                <a:solidFill>
                  <a:srgbClr val="43474E"/>
                </a:solidFill>
                <a:latin typeface="Arial"/>
              </a:rPr>
              <a:t>מחיר מכירה (ARV):  $1,350,000</a:t>
            </a:r>
          </a:p>
          <a:p>
            <a:pPr algn="r" a:rtl="1"/>
            <a:r>
              <a:rPr sz="1300" b="0">
                <a:solidFill>
                  <a:srgbClr val="43474E"/>
                </a:solidFill>
                <a:latin typeface="Arial"/>
              </a:rPr>
              <a:t>הוצאות מכירה:        ($81,000)</a:t>
            </a:r>
          </a:p>
          <a:p>
            <a:pPr algn="r" a:rtl="1"/>
            <a:r>
              <a:rPr sz="1100" b="0">
                <a:solidFill>
                  <a:srgbClr val="CCCCCC"/>
                </a:solidFill>
                <a:latin typeface="Arial"/>
              </a:rPr>
              <a:t>─────────────────────────────</a:t>
            </a:r>
          </a:p>
          <a:p>
            <a:pPr algn="r" a:rtl="1"/>
            <a:r>
              <a:rPr sz="1500" b="1">
                <a:solidFill>
                  <a:srgbClr val="984349"/>
                </a:solidFill>
                <a:latin typeface="Arial"/>
              </a:rPr>
              <a:t>רווח נקי משוער:      $181,452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926080"/>
            <a:ext cx="5577840" cy="1417320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992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השקעת $50,000?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37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BF8F3"/>
                </a:solidFill>
                <a:latin typeface="Arial"/>
              </a:rPr>
              <a:t>קיבלת בחזרה $60,000 תוך 8 חודשים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75887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000" b="1" i="0">
                <a:solidFill>
                  <a:srgbClr val="984349"/>
                </a:solidFill>
                <a:latin typeface="Arial"/>
              </a:rPr>
              <a:t>רווח: $10,000 = 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5262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022445"/>
                </a:solidFill>
                <a:latin typeface="Arial"/>
              </a:rPr>
              <a:t>Comps — נכסים דומים שנמכרו באותו אזור: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4937760"/>
            <a:ext cx="5577840" cy="4572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5001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022445"/>
                </a:solidFill>
                <a:latin typeface="Arial"/>
              </a:rPr>
              <a:t>133 E Edgewood Dr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5001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1" i="0">
                <a:solidFill>
                  <a:srgbClr val="984349"/>
                </a:solidFill>
                <a:latin typeface="Arial"/>
              </a:rPr>
              <a:t>$1,350,000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50017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000" b="0" i="0">
                <a:solidFill>
                  <a:srgbClr val="43474E"/>
                </a:solidFill>
                <a:latin typeface="Arial"/>
              </a:rPr>
              <a:t>5/4 | 3,027 sqft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5468112"/>
            <a:ext cx="5577840" cy="4572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022445"/>
                </a:solidFill>
                <a:latin typeface="Arial"/>
              </a:rPr>
              <a:t>1511 Grove Pl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1" i="0">
                <a:solidFill>
                  <a:srgbClr val="984349"/>
                </a:solidFill>
                <a:latin typeface="Arial"/>
              </a:rPr>
              <a:t>$1,357,000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5532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000" b="0" i="0">
                <a:solidFill>
                  <a:srgbClr val="43474E"/>
                </a:solidFill>
                <a:latin typeface="Arial"/>
              </a:rPr>
              <a:t>5/3 | 2,824 sqft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5998464"/>
            <a:ext cx="5577840" cy="45720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6062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022445"/>
                </a:solidFill>
                <a:latin typeface="Arial"/>
              </a:rPr>
              <a:t>1410 Ardsley Pl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6062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1" i="0">
                <a:solidFill>
                  <a:srgbClr val="984349"/>
                </a:solidFill>
                <a:latin typeface="Arial"/>
              </a:rPr>
              <a:t>$1,530,000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0624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000" b="0" i="0">
                <a:solidFill>
                  <a:srgbClr val="43474E"/>
                </a:solidFill>
                <a:latin typeface="Arial"/>
              </a:rPr>
              <a:t>4/4 | 2,998 sqft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64922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1" i="0">
                <a:solidFill>
                  <a:srgbClr val="2A7A4A"/>
                </a:solidFill>
                <a:latin typeface="Arial"/>
              </a:rPr>
              <a:t>✅ ה-ARV שלנו ($1,350,000) הוא השמרני ביותר — יש מרווח ביטחון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74777F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4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200" b="1" i="0">
                <a:solidFill>
                  <a:srgbClr val="FFFFFF"/>
                </a:solidFill>
                <a:latin typeface="Arial"/>
              </a:rPr>
              <a:t>המסגרת המשפטית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0" i="0">
                <a:solidFill>
                  <a:srgbClr val="AABBCC"/>
                </a:solidFill>
                <a:latin typeface="Arial"/>
              </a:rPr>
              <a:t>אמון טוב יותר כשיש מסמך מאחוריו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3657600" cy="2540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82512" y="14630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6BC98A"/>
                </a:solidFill>
                <a:latin typeface="Arial"/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9712" y="1463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rial"/>
              </a:rPr>
              <a:t>סכום ההשקעה וההתחייבות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9712" y="1737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מוגדר מראש. סכום קבוע לעסקה ספציפית.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206654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6BC98A"/>
                </a:solidFill>
                <a:latin typeface="Arial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712" y="20665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rial"/>
              </a:rPr>
              <a:t>לוח זמנים מחייב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23408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תאריך יעד לסיום הפרויקט — כתוב בחוזה.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6700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6BC98A"/>
                </a:solidFill>
                <a:latin typeface="Arial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26700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rial"/>
              </a:rPr>
              <a:t>Preferred Return —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29443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המשקיע מקבל 20% על הקרן לפני שהמייסדים מקבלים דבר.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2735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6BC98A"/>
                </a:solidFill>
                <a:latin typeface="Arial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3273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rial"/>
              </a:rPr>
              <a:t>חסד — 2 חודשים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35478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אם הפרויקט מתעכב — יש 2 חודשי חסד מעבר ל-deadline.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8770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6BC98A"/>
                </a:solidFill>
                <a:latin typeface="Arial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38770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rial"/>
              </a:rPr>
              <a:t>Buyout בהנחה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41513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אם העיכוב חורג מ-3 חודשים — המשקיע יכול לכפות יציאה בהנחה.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4805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6BC98A"/>
                </a:solidFill>
                <a:latin typeface="Arial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4480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rial"/>
              </a:rPr>
              <a:t>המשקיע מוגן אם הנכס לא נמכר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754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אנחנו סופגים הפסדים מהפחתת מחיר. הקרן של המשקיע בראש.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08406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6BC98A"/>
                </a:solidFill>
                <a:latin typeface="Arial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5084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rial"/>
              </a:rPr>
              <a:t>מבנה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53583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הנכס רשום על שם ה-LLC. שמך מופיע בניירות הרשמיים.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56875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6BC98A"/>
                </a:solidFill>
                <a:latin typeface="Arial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56875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rial"/>
              </a:rPr>
              <a:t>אופציות יציאה מוגדרות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59618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8AA4CC"/>
                </a:solidFill>
                <a:latin typeface="Arial"/>
              </a:rPr>
              <a:t>ברור מתי ואיך ניתן לצאת מהעסקה.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1463040"/>
            <a:ext cx="5029200" cy="484632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21031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6000" b="0" i="0">
                <a:solidFill>
                  <a:srgbClr val="984349"/>
                </a:solidFill>
                <a:latin typeface="Arial"/>
              </a:rPr>
              <a:t>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291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 i="0">
                <a:solidFill>
                  <a:srgbClr val="FFFFFF"/>
                </a:solidFill>
                <a:latin typeface="Arial"/>
              </a:rPr>
              <a:t>חוזה שותפות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49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FBF8F3"/>
                </a:solidFill>
                <a:latin typeface="Arial"/>
              </a:rPr>
              <a:t>LLC ייעודי לכל עסקה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51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0" i="0">
                <a:solidFill>
                  <a:srgbClr val="8AA4CC"/>
                </a:solidFill>
                <a:latin typeface="Arial"/>
              </a:rPr>
              <a:t>שמך כמשקיע מופיע
בניירות הרשמיים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AABBCC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200" b="1" i="0">
                <a:solidFill>
                  <a:srgbClr val="022445"/>
                </a:solidFill>
                <a:latin typeface="Arial"/>
              </a:rPr>
              <a:t>איך הכסף זז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0" i="0">
                <a:solidFill>
                  <a:srgbClr val="43474E"/>
                </a:solidFill>
                <a:latin typeface="Arial"/>
              </a:rPr>
              <a:t>שקיפות מלאה — כל שקל מתועד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4114800" cy="2540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03520" cy="1920240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תזרים פנימה — מהמשקיע אלינו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FBF8F3"/>
                </a:solidFill>
                <a:latin typeface="Arial"/>
              </a:rPr>
              <a:t>• תוך 10 ימים מחתימת החוזה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225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FBF8F3"/>
                </a:solidFill>
                <a:latin typeface="Arial"/>
              </a:rPr>
              <a:t>• חשבון בנק ייעודי לכל פרויקט בנפרד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066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FBF8F3"/>
                </a:solidFill>
                <a:latin typeface="Arial"/>
              </a:rPr>
              <a:t>• קנס במקרה של איחור [לפי חוזה]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661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3566160" cy="347472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844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8AA4CC"/>
                </a:solidFill>
                <a:latin typeface="Arial"/>
              </a:rPr>
              <a:t>מקסימום צבר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050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022445"/>
                </a:solidFill>
                <a:latin typeface="Arial"/>
              </a:rPr>
              <a:t>🔄  השאר הכל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34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43474E"/>
                </a:solidFill>
                <a:latin typeface="Arial"/>
              </a:rPr>
              <a:t>קרן + רווח ממשיכים לעסקה הבאה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5661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3566160"/>
            <a:ext cx="3566160" cy="347472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5844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8AA4CC"/>
                </a:solidFill>
                <a:latin typeface="Arial"/>
              </a:rPr>
              <a:t>הכנסה שוטפת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0050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022445"/>
                </a:solidFill>
                <a:latin typeface="Arial"/>
              </a:rPr>
              <a:t>💸  קח את הרווח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434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43474E"/>
                </a:solidFill>
                <a:latin typeface="Arial"/>
              </a:rPr>
              <a:t>הרווח ($10K) לישראל, הקרן ממשיכה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5661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566160"/>
            <a:ext cx="3566160" cy="347472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5844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8AA4CC"/>
                </a:solidFill>
                <a:latin typeface="Arial"/>
              </a:rPr>
              <a:t>גמישות מלאה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0050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022445"/>
                </a:solidFill>
                <a:latin typeface="Arial"/>
              </a:rPr>
              <a:t>🏦  צא לגמרי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434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43474E"/>
                </a:solidFill>
                <a:latin typeface="Arial"/>
              </a:rPr>
              <a:t>קרן + רווח חוזרים לחשבון ישראלי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715000"/>
            <a:ext cx="11457432" cy="54864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788152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0" i="0">
                <a:solidFill>
                  <a:srgbClr val="FBF8F3"/>
                </a:solidFill>
                <a:latin typeface="Arial"/>
              </a:rPr>
              <a:t>מס: ישולם פעם בשנה בסיוע רו"ח המתמחה בשני הצדדים — ישראל + ארה"ב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74777F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4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5600" b="1" i="0">
                <a:solidFill>
                  <a:srgbClr val="FFFFFF"/>
                </a:solidFill>
                <a:latin typeface="Arial"/>
              </a:rPr>
              <a:t>תקח את הזמן שלך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011680"/>
            <a:ext cx="3931920" cy="25400"/>
          </a:xfrm>
          <a:prstGeom prst="rect">
            <a:avLst/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531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400"/>
              </a:spcAft>
            </a:pPr>
            <a:r>
              <a:rPr sz="2200" b="0">
                <a:solidFill>
                  <a:srgbClr val="FBF8F3"/>
                </a:solidFill>
                <a:latin typeface="Arial"/>
              </a:rPr>
              <a:t>אין צורך להחליט עכשיו.</a:t>
            </a:r>
          </a:p>
          <a:p>
            <a:pPr algn="ctr" a:rtl="1">
              <a:spcAft>
                <a:spcPts val="400"/>
              </a:spcAft>
            </a:pPr>
            <a:r>
              <a:rPr sz="2200" b="0">
                <a:solidFill>
                  <a:srgbClr val="FBF8F3"/>
                </a:solidFill>
                <a:latin typeface="Arial"/>
              </a:rPr>
              <a:t/>
            </a:r>
          </a:p>
          <a:p>
            <a:pPr algn="ctr" a:rtl="1">
              <a:spcAft>
                <a:spcPts val="400"/>
              </a:spcAft>
            </a:pPr>
            <a:r>
              <a:rPr sz="2200" b="0">
                <a:solidFill>
                  <a:srgbClr val="FBF8F3"/>
                </a:solidFill>
                <a:latin typeface="Arial"/>
              </a:rPr>
              <a:t>ישן על זה לילה-שניים.</a:t>
            </a:r>
          </a:p>
          <a:p>
            <a:pPr algn="ctr" a:rtl="1">
              <a:spcAft>
                <a:spcPts val="400"/>
              </a:spcAft>
            </a:pPr>
            <a:r>
              <a:rPr sz="2200" b="0">
                <a:solidFill>
                  <a:srgbClr val="FBF8F3"/>
                </a:solidFill>
                <a:latin typeface="Arial"/>
              </a:rPr>
              <a:t>דבר עם מי שצריך.</a:t>
            </a:r>
          </a:p>
          <a:p>
            <a:pPr algn="ctr" a:rtl="1">
              <a:spcAft>
                <a:spcPts val="400"/>
              </a:spcAft>
            </a:pPr>
            <a:r>
              <a:rPr sz="2200" b="0">
                <a:solidFill>
                  <a:srgbClr val="FBF8F3"/>
                </a:solidFill>
                <a:latin typeface="Arial"/>
              </a:rPr>
              <a:t>תחזור עם שאלות.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0" i="0">
                <a:solidFill>
                  <a:srgbClr val="8AA4CC"/>
                </a:solidFill>
                <a:latin typeface="Arial"/>
              </a:rPr>
              <a:t>ניצור איתך קשר בעוד יומיים לשמוע מה בראש שלך.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5029200"/>
            <a:ext cx="5760720" cy="73152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51206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FBF8F3"/>
                </a:solidFill>
                <a:latin typeface="Arial"/>
              </a:rPr>
              <a:t>📱 054-7828550   |   ✉️ safecapital2024@gmail.com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 i="0">
                <a:solidFill>
                  <a:srgbClr val="984349"/>
                </a:solidFill>
                <a:latin typeface="Arial"/>
              </a:rPr>
              <a:t>אנחנו לא מחפשים "כן" מהיר — אנחנו מחפשים שותפים לטווח ארוך.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AABBCC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 i="0">
                <a:solidFill>
                  <a:srgbClr val="FFFFFF"/>
                </a:solidFill>
                <a:latin typeface="Arial"/>
              </a:rPr>
              <a:t>⚠️  פנימי — לא להציג למשקיע  ⚠️  Cmd+Shift+H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 i="0">
                <a:solidFill>
                  <a:srgbClr val="FFFFFF"/>
                </a:solidFill>
                <a:latin typeface="Arial"/>
              </a:rPr>
              <a:t>הכנה — תשובות להתנגדויות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03520" cy="6858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FFCC44"/>
                </a:solidFill>
                <a:latin typeface="Arial"/>
              </a:rPr>
              <a:t>1. השיפוץ מתעכב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CCDDFF"/>
                </a:solidFill>
                <a:latin typeface="Arial"/>
              </a:rPr>
              <a:t>2 חודשי חסד. אחרי 3 חודשים מה-deadline — buyout בהנחה.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303520" cy="6858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FFCC44"/>
                </a:solidFill>
                <a:latin typeface="Arial"/>
              </a:rPr>
              <a:t>2. הנכס לא נמכר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CCDDFF"/>
                </a:solidFill>
                <a:latin typeface="Arial"/>
              </a:rPr>
              <a:t>Comps: נמכרים תוך 25 ימים. אם נתקע — אנחנו מורידים מחיר. הקרן מוגנת.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5303520" cy="6858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FFCC44"/>
                </a:solidFill>
                <a:latin typeface="Arial"/>
              </a:rPr>
              <a:t>3. איך אני יודע שהכסף הולך לשיפוץ?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CCDDFF"/>
                </a:solidFill>
                <a:latin typeface="Arial"/>
              </a:rPr>
              <a:t>חשבון בנק ייעודי לפרויקט. פורטל משקיעים — כל תזרים גלוי.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40280"/>
            <a:ext cx="5303520" cy="6858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FFCC44"/>
                </a:solidFill>
                <a:latin typeface="Arial"/>
              </a:rPr>
              <a:t>4. תאונה/בעיה משפטית?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CCDDFF"/>
                </a:solidFill>
                <a:latin typeface="Arial"/>
              </a:rPr>
              <a:t>ביטוח בנייה מלא. אנחנו נמנעים מנכסים עם סיכון משפטי מראש.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17520"/>
            <a:ext cx="5303520" cy="6858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63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FFCC44"/>
                </a:solidFill>
                <a:latin typeface="Arial"/>
              </a:rPr>
              <a:t>5. מסים — לא רוצה להסתבך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CCDDFF"/>
                </a:solidFill>
                <a:latin typeface="Arial"/>
              </a:rPr>
              <a:t>מחברים עם רו"ח ישראלי-אמריקאי. הוא מטפל בכל הדיווח.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017520"/>
            <a:ext cx="5303520" cy="6858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FFCC44"/>
                </a:solidFill>
                <a:latin typeface="Arial"/>
              </a:rPr>
              <a:t>6. השוק קורס?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37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CCDDFF"/>
                </a:solidFill>
                <a:latin typeface="Arial"/>
              </a:rPr>
              <a:t>6-12 חודשים = חשיפה מינימלית. קונים 30% מתחת לשוק. משקיע מקבל ראשון.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5303520" cy="6858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FFCC44"/>
                </a:solidFill>
                <a:latin typeface="Arial"/>
              </a:rPr>
              <a:t>7. מה אם תיעלמו?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CCDDFF"/>
                </a:solidFill>
                <a:latin typeface="Arial"/>
              </a:rPr>
              <a:t>LLC — שמך על הנכס. יכולת תביעה. בעתיד: ערבות בנקאית.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008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AAAAAA"/>
                </a:solidFill>
                <a:latin typeface="Arial"/>
              </a:rPr>
              <a:t>כלל זהב: שלב את התשובות באופן טבעי בשקופיות 8-9 — אל תציג שקופית זו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
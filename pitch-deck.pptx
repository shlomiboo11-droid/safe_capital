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300" b="1">
                <a:solidFill>
                  <a:srgbClr val="B35158"/>
                </a:solidFill>
                <a:latin typeface="Inter"/>
              </a:rPr>
              <a:t>סייף קפיטל · SAFE CAPITAL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6400" b="1">
                <a:solidFill>
                  <a:srgbClr val="FBF9F6"/>
                </a:solidFill>
                <a:latin typeface="Heebo"/>
              </a:rPr>
              <a:t>אתם ראשונים ברווח.</a:t>
            </a:r>
          </a:p>
          <a:p>
            <a:pPr algn="r" rtl="1">
              <a:lnSpc>
                <a:spcPct val="115000"/>
              </a:lnSpc>
            </a:pPr>
            <a:r>
              <a:rPr sz="6400" b="1">
                <a:solidFill>
                  <a:srgbClr val="FBF9F6"/>
                </a:solidFill>
                <a:latin typeface="Heebo"/>
              </a:rPr>
              <a:t>אנחנו מנהלים.</a:t>
            </a:r>
          </a:p>
          <a:p>
            <a:pPr algn="r" rtl="1">
              <a:lnSpc>
                <a:spcPct val="115000"/>
              </a:lnSpc>
            </a:pPr>
            <a:r>
              <a:rPr sz="6400" b="1">
                <a:solidFill>
                  <a:srgbClr val="FBF9F6"/>
                </a:solidFill>
                <a:latin typeface="Heebo"/>
              </a:rPr>
              <a:t>אתם לא נוגעים בנייר.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206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800" b="0">
                <a:solidFill>
                  <a:srgbClr val="CCC8C0"/>
                </a:solidFill>
                <a:latin typeface="Heebo"/>
              </a:rPr>
              <a:t>השקעות נדל״ן Flip בבירמינגהם, אלבמה — קצרות, שקופות, בליווי ישראלי מלא.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BBB8B0"/>
                </a:solidFill>
                <a:latin typeface="Inter"/>
              </a:rPr>
              <a:t>1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000" b="0">
                <a:solidFill>
                  <a:srgbClr val="BBB8B0"/>
                </a:solidFill>
                <a:latin typeface="Inter"/>
              </a:rPr>
              <a:t>Safe Capital · סייף קפיטל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200" b="1">
                <a:solidFill>
                  <a:srgbClr val="984349"/>
                </a:solidFill>
                <a:latin typeface="Inter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4000" b="1">
                <a:solidFill>
                  <a:srgbClr val="022445"/>
                </a:solidFill>
                <a:latin typeface="Heebo"/>
              </a:rPr>
              <a:t>הסיפור שלנו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800" b="0">
                <a:solidFill>
                  <a:srgbClr val="43474E"/>
                </a:solidFill>
                <a:latin typeface="Heebo"/>
              </a:rPr>
              <a:t>ארבעה שותפים, חברים ועמיתים, שבנו ביחד את מה שחסר להם בעצמם בתור משקיעים.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651760"/>
            <a:ext cx="667512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60000"/>
              </a:lnSpc>
            </a:pPr>
            <a:r>
              <a:rPr sz="1500" b="0">
                <a:solidFill>
                  <a:srgbClr val="43474E"/>
                </a:solidFill>
                <a:latin typeface="Heebo"/>
              </a:rPr>
              <a:t>איתן חיפש שלוש שנים את השוק הנכון. הוא נסע לארה״ב, בדק עיר אחר עיר, ספר אחר ספר, מנהל קבלנים אחר מנהל קבלנים. בסוף עצר בבירמינגהם, אלבמה — שילוב נדיר של מרווח רווח גבוה, ביקוש יציב, ועוגנים מוסדיים (UAB Hospital, האוניברסיטה).</a:t>
            </a:r>
          </a:p>
          <a:p>
            <a:pPr algn="r" rtl="1">
              <a:lnSpc>
                <a:spcPct val="160000"/>
              </a:lnSpc>
            </a:pPr>
            <a:r>
              <a:rPr sz="1500" b="0">
                <a:solidFill>
                  <a:srgbClr val="43474E"/>
                </a:solidFill>
                <a:latin typeface="Heebo"/>
              </a:rPr>
              <a:t/>
            </a:r>
          </a:p>
          <a:p>
            <a:pPr algn="r" rtl="1">
              <a:lnSpc>
                <a:spcPct val="160000"/>
              </a:lnSpc>
            </a:pPr>
            <a:r>
              <a:rPr sz="1500" b="0">
                <a:solidFill>
                  <a:srgbClr val="43474E"/>
                </a:solidFill>
                <a:latin typeface="Heebo"/>
              </a:rPr>
              <a:t>כשחזר ארצה, חיבר את שלומי (CEO), עדי והוטר — שניהם בנויים ליחסי משקיעים. ביחד החלטנו להציע את אותו מנגנון שאנחנו עצמנו רצינו: עסקה קצרה, שקיפות מלאה, והמשקיע ראשון בתור על הרווח.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97480"/>
            <a:ext cx="219456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40280" y="2857500"/>
            <a:ext cx="548640" cy="548640"/>
          </a:xfrm>
          <a:prstGeom prst="ellipse">
            <a:avLst/>
          </a:prstGeom>
          <a:solidFill>
            <a:srgbClr val="02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294436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BF9F6"/>
                </a:solidFill>
                <a:latin typeface="Heebo"/>
              </a:rPr>
              <a:t>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400" b="1">
                <a:solidFill>
                  <a:srgbClr val="022445"/>
                </a:solidFill>
                <a:latin typeface="Heebo"/>
              </a:rPr>
              <a:t>שלומי דוד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000" b="0">
                <a:solidFill>
                  <a:srgbClr val="43474E"/>
                </a:solidFill>
                <a:latin typeface="Heebo"/>
              </a:rPr>
              <a:t>CEO · מנכ״ל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2697480"/>
            <a:ext cx="219456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72000" y="2857500"/>
            <a:ext cx="548640" cy="548640"/>
          </a:xfrm>
          <a:prstGeom prst="ellipse">
            <a:avLst/>
          </a:prstGeom>
          <a:solidFill>
            <a:srgbClr val="02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94436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BF9F6"/>
                </a:solidFill>
                <a:latin typeface="Heebo"/>
              </a:rPr>
              <a:t>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834640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400" b="1">
                <a:solidFill>
                  <a:srgbClr val="022445"/>
                </a:solidFill>
                <a:latin typeface="Heebo"/>
              </a:rPr>
              <a:t>איתן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154680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000" b="0">
                <a:solidFill>
                  <a:srgbClr val="43474E"/>
                </a:solidFill>
                <a:latin typeface="Heebo"/>
              </a:rPr>
              <a:t>רכישות · שטח בארה״ב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03320"/>
            <a:ext cx="219456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240280" y="3863340"/>
            <a:ext cx="548640" cy="548640"/>
          </a:xfrm>
          <a:prstGeom prst="ellipse">
            <a:avLst/>
          </a:prstGeom>
          <a:solidFill>
            <a:srgbClr val="02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40280" y="39502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BF9F6"/>
                </a:solidFill>
                <a:latin typeface="Heebo"/>
              </a:rPr>
              <a:t>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40480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400" b="1">
                <a:solidFill>
                  <a:srgbClr val="022445"/>
                </a:solidFill>
                <a:latin typeface="Heebo"/>
              </a:rPr>
              <a:t>עדי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160520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000" b="0">
                <a:solidFill>
                  <a:srgbClr val="43474E"/>
                </a:solidFill>
                <a:latin typeface="Heebo"/>
              </a:rPr>
              <a:t>יחסי משקיעים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360" y="3703320"/>
            <a:ext cx="219456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72000" y="3863340"/>
            <a:ext cx="548640" cy="548640"/>
          </a:xfrm>
          <a:prstGeom prst="ellipse">
            <a:avLst/>
          </a:prstGeom>
          <a:solidFill>
            <a:srgbClr val="02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9502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BF9F6"/>
                </a:solidFill>
                <a:latin typeface="Heebo"/>
              </a:rPr>
              <a:t>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3840480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400" b="1">
                <a:solidFill>
                  <a:srgbClr val="022445"/>
                </a:solidFill>
                <a:latin typeface="Heebo"/>
              </a:rPr>
              <a:t>הוטר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4160520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000" b="0">
                <a:solidFill>
                  <a:srgbClr val="43474E"/>
                </a:solidFill>
                <a:latin typeface="Heebo"/>
              </a:rPr>
              <a:t>יחסי משקיעים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3474E"/>
                </a:solidFill>
                <a:latin typeface="Inter"/>
              </a:rPr>
              <a:t>2 / 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000" b="0">
                <a:solidFill>
                  <a:srgbClr val="43474E"/>
                </a:solidFill>
                <a:latin typeface="Inter"/>
              </a:rPr>
              <a:t>Safe Capital · סייף קפיטל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200" b="1">
                <a:solidFill>
                  <a:srgbClr val="984349"/>
                </a:solidFill>
                <a:latin typeface="Inter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4000" b="1">
                <a:solidFill>
                  <a:srgbClr val="022445"/>
                </a:solidFill>
                <a:latin typeface="Heebo"/>
              </a:rPr>
              <a:t>למה דווקא בירמינגהם, אלבמה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800" b="0">
                <a:solidFill>
                  <a:srgbClr val="43474E"/>
                </a:solidFill>
                <a:latin typeface="Heebo"/>
              </a:rPr>
              <a:t>הבחירה לא מקרית. שילוב של מרווח, יציבות ועוגנים מוסדיים שבישראל פשוט לא קיים.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65176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27889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1">
                <a:solidFill>
                  <a:srgbClr val="984349"/>
                </a:solidFill>
                <a:latin typeface="Inter"/>
              </a:rPr>
              <a:t>נדל״ן בישראל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310896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4200" b="1">
                <a:solidFill>
                  <a:srgbClr val="43474E"/>
                </a:solidFill>
                <a:latin typeface="Inter"/>
              </a:rPr>
              <a:t>3–5%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6576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200" b="0">
                <a:solidFill>
                  <a:srgbClr val="43474E"/>
                </a:solidFill>
                <a:latin typeface="Heebo"/>
              </a:rPr>
              <a:t>תשואה שנתית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11480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200" b="0">
                <a:solidFill>
                  <a:srgbClr val="43474E"/>
                </a:solidFill>
                <a:latin typeface="Heebo"/>
              </a:rPr>
              <a:t>• מחירי כניסה ₪2M+</a:t>
            </a:r>
          </a:p>
          <a:p>
            <a:pPr algn="r" rtl="1">
              <a:lnSpc>
                <a:spcPct val="150000"/>
              </a:lnSpc>
            </a:pPr>
            <a:r>
              <a:rPr sz="1200" b="0">
                <a:solidFill>
                  <a:srgbClr val="43474E"/>
                </a:solidFill>
                <a:latin typeface="Heebo"/>
              </a:rPr>
              <a:t>• אופק 7–15 שנה</a:t>
            </a:r>
          </a:p>
          <a:p>
            <a:pPr algn="r" rtl="1">
              <a:lnSpc>
                <a:spcPct val="150000"/>
              </a:lnSpc>
            </a:pPr>
            <a:r>
              <a:rPr sz="1200" b="0">
                <a:solidFill>
                  <a:srgbClr val="43474E"/>
                </a:solidFill>
                <a:latin typeface="Heebo"/>
              </a:rPr>
              <a:t>• חשיפה גיאופוליטית מתמשכת</a:t>
            </a:r>
          </a:p>
          <a:p>
            <a:pPr algn="r" rtl="1">
              <a:lnSpc>
                <a:spcPct val="150000"/>
              </a:lnSpc>
            </a:pPr>
            <a:r>
              <a:rPr sz="1200" b="0">
                <a:solidFill>
                  <a:srgbClr val="43474E"/>
                </a:solidFill>
                <a:latin typeface="Heebo"/>
              </a:rPr>
              <a:t>• רגולציה כבדה ושוכרים מורכבים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5176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02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889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1">
                <a:solidFill>
                  <a:srgbClr val="B35158"/>
                </a:solidFill>
                <a:latin typeface="Inter"/>
              </a:rPr>
              <a:t>Flip בבירמינגהם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0896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4200" b="1">
                <a:solidFill>
                  <a:srgbClr val="FBF9F6"/>
                </a:solidFill>
                <a:latin typeface="Inter"/>
              </a:rPr>
              <a:t>18–22% 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200" b="0">
                <a:solidFill>
                  <a:srgbClr val="CCC8C0"/>
                </a:solidFill>
                <a:latin typeface="Heebo"/>
              </a:rPr>
              <a:t>לעסקה (6–12 חודשים)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200" b="0">
                <a:solidFill>
                  <a:srgbClr val="CCC8C0"/>
                </a:solidFill>
                <a:latin typeface="Heebo"/>
              </a:rPr>
              <a:t>• כניסה מ-$50K</a:t>
            </a:r>
          </a:p>
          <a:p>
            <a:pPr algn="r" rtl="1">
              <a:lnSpc>
                <a:spcPct val="150000"/>
              </a:lnSpc>
            </a:pPr>
            <a:r>
              <a:rPr sz="1200" b="0">
                <a:solidFill>
                  <a:srgbClr val="CCC8C0"/>
                </a:solidFill>
                <a:latin typeface="Heebo"/>
              </a:rPr>
              <a:t>• אופק 6–12 חודשים</a:t>
            </a:r>
          </a:p>
          <a:p>
            <a:pPr algn="r" rtl="1">
              <a:lnSpc>
                <a:spcPct val="150000"/>
              </a:lnSpc>
            </a:pPr>
            <a:r>
              <a:rPr sz="1200" b="0">
                <a:solidFill>
                  <a:srgbClr val="CCC8C0"/>
                </a:solidFill>
                <a:latin typeface="Heebo"/>
              </a:rPr>
              <a:t>• UAB Hospital · 28K עובדים</a:t>
            </a:r>
          </a:p>
          <a:p>
            <a:pPr algn="r" rtl="1">
              <a:lnSpc>
                <a:spcPct val="150000"/>
              </a:lnSpc>
            </a:pPr>
            <a:r>
              <a:rPr sz="1200" b="0">
                <a:solidFill>
                  <a:srgbClr val="CCC8C0"/>
                </a:solidFill>
                <a:latin typeface="Heebo"/>
              </a:rPr>
              <a:t>• אבטלה 2.2% · מס נכס $919/שנה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212080"/>
            <a:ext cx="36576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400" b="1">
                <a:solidFill>
                  <a:srgbClr val="022445"/>
                </a:solidFill>
                <a:latin typeface="Heebo"/>
              </a:rPr>
              <a:t>Hard Money Lending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000" b="0">
                <a:solidFill>
                  <a:srgbClr val="43474E"/>
                </a:solidFill>
                <a:latin typeface="Heebo"/>
              </a:rPr>
              <a:t>מימון מקומי קצר־טווח שמאפשר לרכוש מהר, לשפץ ולמכור — בלי לשעבד הון יקר.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5212080"/>
            <a:ext cx="36576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53035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400" b="1">
                <a:solidFill>
                  <a:srgbClr val="022445"/>
                </a:solidFill>
                <a:latin typeface="Heebo"/>
              </a:rPr>
              <a:t>אופק קצר = הגנה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562356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000" b="0">
                <a:solidFill>
                  <a:srgbClr val="43474E"/>
                </a:solidFill>
                <a:latin typeface="Heebo"/>
              </a:rPr>
              <a:t>6–12 חודשים. שינויי שוק או גיאופוליטיקה לא מספיקים לפגוע בעסקה אחת.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5212080"/>
            <a:ext cx="36576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53035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400" b="1">
                <a:solidFill>
                  <a:srgbClr val="022445"/>
                </a:solidFill>
                <a:latin typeface="Heebo"/>
              </a:rPr>
              <a:t>שכונות נבחרות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562356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000" b="0">
                <a:solidFill>
                  <a:srgbClr val="43474E"/>
                </a:solidFill>
                <a:latin typeface="Heebo"/>
              </a:rPr>
              <a:t>Over the Mountain — שכונות יוקרה ליד בתי חולים ואוניברסיטאות. ביקוש קשיח.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3474E"/>
                </a:solidFill>
                <a:latin typeface="Inter"/>
              </a:rPr>
              <a:t>3 /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000" b="0">
                <a:solidFill>
                  <a:srgbClr val="43474E"/>
                </a:solidFill>
                <a:latin typeface="Inter"/>
              </a:rPr>
              <a:t>Safe Capital · סייף קפיטל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200" b="1">
                <a:solidFill>
                  <a:srgbClr val="984349"/>
                </a:solidFill>
                <a:latin typeface="Inter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4000" b="1">
                <a:solidFill>
                  <a:srgbClr val="022445"/>
                </a:solidFill>
                <a:latin typeface="Heebo"/>
              </a:rPr>
              <a:t>ההצעה — מה אתה מקבל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800" b="0">
                <a:solidFill>
                  <a:srgbClr val="43474E"/>
                </a:solidFill>
                <a:latin typeface="Heebo"/>
              </a:rPr>
              <a:t>בלי שכבות, בלי כוכביות. שלושה מספרים, מנגנון אחד.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1760"/>
            <a:ext cx="365760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5200" b="1">
                <a:solidFill>
                  <a:srgbClr val="022445"/>
                </a:solidFill>
                <a:latin typeface="Inter"/>
              </a:rPr>
              <a:t>$50K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300" b="0">
                <a:solidFill>
                  <a:srgbClr val="43474E"/>
                </a:solidFill>
                <a:latin typeface="Heebo"/>
              </a:rPr>
              <a:t>השקעה מינימלית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651760"/>
            <a:ext cx="3657600" cy="1554480"/>
          </a:xfrm>
          <a:prstGeom prst="roundRect">
            <a:avLst>
              <a:gd name="adj" fmla="val 4000"/>
            </a:avLst>
          </a:prstGeom>
          <a:solidFill>
            <a:srgbClr val="984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74320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5200" b="1">
                <a:solidFill>
                  <a:srgbClr val="FBF9F6"/>
                </a:solidFill>
                <a:latin typeface="Inter"/>
              </a:rPr>
              <a:t>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703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300" b="0">
                <a:solidFill>
                  <a:srgbClr val="EEE0E2"/>
                </a:solidFill>
                <a:latin typeface="Heebo"/>
              </a:rPr>
              <a:t>Preferred Return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651760"/>
            <a:ext cx="365760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74320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5200" b="1">
                <a:solidFill>
                  <a:srgbClr val="022445"/>
                </a:solidFill>
                <a:latin typeface="Inter"/>
              </a:rPr>
              <a:t>6–12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703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300" b="0">
                <a:solidFill>
                  <a:srgbClr val="43474E"/>
                </a:solidFill>
                <a:latin typeface="Heebo"/>
              </a:rPr>
              <a:t>חודשים · משך עסקה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34840"/>
            <a:ext cx="1110996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262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2200" b="1">
                <a:solidFill>
                  <a:srgbClr val="022445"/>
                </a:solidFill>
                <a:latin typeface="Heebo"/>
              </a:rPr>
              <a:t>איך מתחלק הרווח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0" y="4892040"/>
            <a:ext cx="365760" cy="365760"/>
          </a:xfrm>
          <a:prstGeom prst="ellipse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49377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984349"/>
                </a:solidFill>
                <a:latin typeface="Inter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377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300" b="1">
                <a:solidFill>
                  <a:srgbClr val="022445"/>
                </a:solidFill>
                <a:latin typeface="Heebo"/>
              </a:rPr>
              <a:t>המשקיע ראשון בתור — 20% על הקרן שלו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138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000" b="0">
                <a:solidFill>
                  <a:srgbClr val="43474E"/>
                </a:solidFill>
                <a:latin typeface="Heebo"/>
              </a:rPr>
              <a:t>התשואה של 20% מחושבת על הקרן של המשקיע, לא על רווח העסקה.</a:t>
            </a:r>
          </a:p>
        </p:txBody>
      </p:sp>
      <p:sp>
        <p:nvSpPr>
          <p:cNvPr id="21" name="Oval 20"/>
          <p:cNvSpPr/>
          <p:nvPr/>
        </p:nvSpPr>
        <p:spPr>
          <a:xfrm>
            <a:off x="10972800" y="5349240"/>
            <a:ext cx="365760" cy="365760"/>
          </a:xfrm>
          <a:prstGeom prst="ellipse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0" y="53949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984349"/>
                </a:solidFill>
                <a:latin typeface="Inter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3949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300" b="1">
                <a:solidFill>
                  <a:srgbClr val="022445"/>
                </a:solidFill>
                <a:latin typeface="Heebo"/>
              </a:rPr>
              <a:t>כל מה שמעל ל-20% למשקיע — אנחנו מקבלים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5961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000" b="0">
                <a:solidFill>
                  <a:srgbClr val="43474E"/>
                </a:solidFill>
                <a:latin typeface="Heebo"/>
              </a:rPr>
              <a:t>העסקה צריכה להרוויח מספיק כדי לכסות את ה-20% למשקיע. כל שקל מעבר לזה — שלנו.</a:t>
            </a:r>
          </a:p>
        </p:txBody>
      </p:sp>
      <p:sp>
        <p:nvSpPr>
          <p:cNvPr id="25" name="Oval 24"/>
          <p:cNvSpPr/>
          <p:nvPr/>
        </p:nvSpPr>
        <p:spPr>
          <a:xfrm>
            <a:off x="10972800" y="5806440"/>
            <a:ext cx="365760" cy="365760"/>
          </a:xfrm>
          <a:prstGeom prst="ellipse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0" y="58521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984349"/>
                </a:solidFill>
                <a:latin typeface="Inter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521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300" b="1">
                <a:solidFill>
                  <a:srgbClr val="022445"/>
                </a:solidFill>
                <a:latin typeface="Heebo"/>
              </a:rPr>
              <a:t>אם אין מספיק — המשקיע לוקח הכל, אנחנו אפס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0533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000" b="0">
                <a:solidFill>
                  <a:srgbClr val="43474E"/>
                </a:solidFill>
                <a:latin typeface="Heebo"/>
              </a:rPr>
              <a:t>אנחנו לא רואים אגורה לפני שהמשקיע מקבל את ה-20% שלו. Skin in the Game אמיתי.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3474E"/>
                </a:solidFill>
                <a:latin typeface="Inter"/>
              </a:rPr>
              <a:t>4 / 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000" b="0">
                <a:solidFill>
                  <a:srgbClr val="43474E"/>
                </a:solidFill>
                <a:latin typeface="Inter"/>
              </a:rPr>
              <a:t>Safe Capital · סייף קפיטל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200" b="1">
                <a:solidFill>
                  <a:srgbClr val="984349"/>
                </a:solidFill>
                <a:latin typeface="Inter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4000" b="1">
                <a:solidFill>
                  <a:srgbClr val="022445"/>
                </a:solidFill>
                <a:latin typeface="Heebo"/>
              </a:rPr>
              <a:t>זה לא One-Shot. זו מערכת יחסים.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800" b="0">
                <a:solidFill>
                  <a:srgbClr val="43474E"/>
                </a:solidFill>
                <a:latin typeface="Heebo"/>
              </a:rPr>
              <a:t>הכוח האמיתי הוא הצבירה. הקרן נשארת אצלנו, מתגלגלת לעסקה הבאה — ומפיקה 20% שוב ושוב.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1760"/>
            <a:ext cx="256032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000" b="1">
                <a:solidFill>
                  <a:srgbClr val="984349"/>
                </a:solidFill>
                <a:latin typeface="Inte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375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200" b="0">
                <a:solidFill>
                  <a:srgbClr val="43474E"/>
                </a:solidFill>
                <a:latin typeface="Heebo"/>
              </a:rPr>
              <a:t>משקיע מעביר $50K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6392" y="30632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0">
                <a:solidFill>
                  <a:srgbClr val="022445"/>
                </a:solidFill>
                <a:latin typeface="Inter"/>
              </a:rPr>
              <a:t>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651760"/>
            <a:ext cx="256032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74320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000" b="1">
                <a:solidFill>
                  <a:srgbClr val="984349"/>
                </a:solidFill>
                <a:latin typeface="Inte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3375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200" b="0">
                <a:solidFill>
                  <a:srgbClr val="43474E"/>
                </a:solidFill>
                <a:latin typeface="Heebo"/>
              </a:rPr>
              <a:t>עסקה: 6–12 חודשים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6752" y="30632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0">
                <a:solidFill>
                  <a:srgbClr val="022445"/>
                </a:solidFill>
                <a:latin typeface="Inter"/>
              </a:rPr>
              <a:t>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2651760"/>
            <a:ext cx="256032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274320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000" b="1">
                <a:solidFill>
                  <a:srgbClr val="984349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3375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200" b="0">
                <a:solidFill>
                  <a:srgbClr val="43474E"/>
                </a:solidFill>
                <a:latin typeface="Heebo"/>
              </a:rPr>
              <a:t>+20% רווח · קרן נשארת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7111" y="30632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0">
                <a:solidFill>
                  <a:srgbClr val="022445"/>
                </a:solidFill>
                <a:latin typeface="Inter"/>
              </a:rPr>
              <a:t>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19" y="2651760"/>
            <a:ext cx="2560320" cy="1188720"/>
          </a:xfrm>
          <a:prstGeom prst="roundRect">
            <a:avLst>
              <a:gd name="adj" fmla="val 4000"/>
            </a:avLst>
          </a:prstGeom>
          <a:solidFill>
            <a:srgbClr val="02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19" y="274320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000" b="1">
                <a:solidFill>
                  <a:srgbClr val="B35158"/>
                </a:solidFill>
                <a:latin typeface="Inter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9" y="33375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200" b="0">
                <a:solidFill>
                  <a:srgbClr val="CCC8C0"/>
                </a:solidFill>
                <a:latin typeface="Heebo"/>
              </a:rPr>
              <a:t>העסקה הבאה — אוטומטית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160520"/>
            <a:ext cx="11109960" cy="1371600"/>
          </a:xfrm>
          <a:prstGeom prst="roundRect">
            <a:avLst>
              <a:gd name="adj" fmla="val 4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25196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1">
                <a:solidFill>
                  <a:srgbClr val="984349"/>
                </a:solidFill>
                <a:latin typeface="Inter"/>
              </a:rPr>
              <a:t>לדוגמה — ביצוע 18 חודשים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617720"/>
            <a:ext cx="2514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9087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900" b="0">
                <a:solidFill>
                  <a:srgbClr val="43474E"/>
                </a:solidFill>
                <a:latin typeface="Heebo"/>
              </a:rPr>
              <a:t>השקעת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937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800" b="1">
                <a:solidFill>
                  <a:srgbClr val="022445"/>
                </a:solidFill>
                <a:latin typeface="Inter"/>
              </a:rPr>
              <a:t>$50,000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56432" y="4617720"/>
            <a:ext cx="2514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93592" y="469087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900" b="0">
                <a:solidFill>
                  <a:srgbClr val="43474E"/>
                </a:solidFill>
                <a:latin typeface="Heebo"/>
              </a:rPr>
              <a:t>אחרי עסקה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93592" y="4937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800" b="1">
                <a:solidFill>
                  <a:srgbClr val="022445"/>
                </a:solidFill>
                <a:latin typeface="Inter"/>
              </a:rPr>
              <a:t>+$10,000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35624" y="4617720"/>
            <a:ext cx="2514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72784" y="469087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900" b="0">
                <a:solidFill>
                  <a:srgbClr val="43474E"/>
                </a:solidFill>
                <a:latin typeface="Heebo"/>
              </a:rPr>
              <a:t>אחרי עסקה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2784" y="4937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800" b="1">
                <a:solidFill>
                  <a:srgbClr val="022445"/>
                </a:solidFill>
                <a:latin typeface="Inter"/>
              </a:rPr>
              <a:t>+$10,000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14816" y="4617720"/>
            <a:ext cx="2514600" cy="777240"/>
          </a:xfrm>
          <a:prstGeom prst="roundRect">
            <a:avLst>
              <a:gd name="adj" fmla="val 4000"/>
            </a:avLst>
          </a:prstGeom>
          <a:solidFill>
            <a:srgbClr val="02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51976" y="469087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900" b="0">
                <a:solidFill>
                  <a:srgbClr val="CCC8C0"/>
                </a:solidFill>
                <a:latin typeface="Heebo"/>
              </a:rPr>
              <a:t>סך רווח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51976" y="4937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800" b="1">
                <a:solidFill>
                  <a:srgbClr val="FBF9F6"/>
                </a:solidFill>
                <a:latin typeface="Inter"/>
              </a:rPr>
              <a:t>$20,000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623560"/>
            <a:ext cx="1110996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68756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1">
                <a:solidFill>
                  <a:srgbClr val="984349"/>
                </a:solidFill>
                <a:latin typeface="Inter"/>
              </a:rPr>
              <a:t>בכל סוף עסקה — 3 אפשרויות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200" b="0">
                <a:solidFill>
                  <a:srgbClr val="43474E"/>
                </a:solidFill>
                <a:latin typeface="Heebo"/>
              </a:rPr>
              <a:t>השאר הכל בחשבון להשקעה הבאה   ·   משוך רווח, השאר קרן   ·   משוך הכל ל-IBAN בישראל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3474E"/>
                </a:solidFill>
                <a:latin typeface="Inter"/>
              </a:rPr>
              <a:t>5 / 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000" b="0">
                <a:solidFill>
                  <a:srgbClr val="43474E"/>
                </a:solidFill>
                <a:latin typeface="Inter"/>
              </a:rPr>
              <a:t>Safe Capital · סייף קפיטל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200" b="1">
                <a:solidFill>
                  <a:srgbClr val="984349"/>
                </a:solidFill>
                <a:latin typeface="Inter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4000" b="1">
                <a:solidFill>
                  <a:srgbClr val="022445"/>
                </a:solidFill>
                <a:latin typeface="Heebo"/>
              </a:rPr>
              <a:t>מה כבר עשינו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800" b="0">
                <a:solidFill>
                  <a:srgbClr val="43474E"/>
                </a:solidFill>
                <a:latin typeface="Heebo"/>
              </a:rPr>
              <a:t>לא מילים — מספרים ונכסים אמיתיים.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269748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4400" b="1">
                <a:solidFill>
                  <a:srgbClr val="022445"/>
                </a:solidFill>
                <a:latin typeface="Inter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033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300" b="0">
                <a:solidFill>
                  <a:srgbClr val="43474E"/>
                </a:solidFill>
                <a:latin typeface="Heebo"/>
              </a:rPr>
              <a:t>משקיעים פעילים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743200"/>
            <a:ext cx="269748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9260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4400" b="1">
                <a:solidFill>
                  <a:srgbClr val="022445"/>
                </a:solidFill>
                <a:latin typeface="Inter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7033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300" b="0">
                <a:solidFill>
                  <a:srgbClr val="43474E"/>
                </a:solidFill>
                <a:latin typeface="Heebo"/>
              </a:rPr>
              <a:t>הון מנוהל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743200"/>
            <a:ext cx="269748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9260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4400" b="1">
                <a:solidFill>
                  <a:srgbClr val="022445"/>
                </a:solidFill>
                <a:latin typeface="Inter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7033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300" b="0">
                <a:solidFill>
                  <a:srgbClr val="43474E"/>
                </a:solidFill>
                <a:latin typeface="Heebo"/>
              </a:rPr>
              <a:t>ROI ממוצע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2743200"/>
            <a:ext cx="269748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29260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4400" b="1">
                <a:solidFill>
                  <a:srgbClr val="022445"/>
                </a:solidFill>
                <a:latin typeface="Inter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7033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300" b="0">
                <a:solidFill>
                  <a:srgbClr val="43474E"/>
                </a:solidFill>
                <a:latin typeface="Heebo"/>
              </a:rPr>
              <a:t>עסקאות שהושלמו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72000"/>
            <a:ext cx="11109960" cy="1188720"/>
          </a:xfrm>
          <a:prstGeom prst="roundRect">
            <a:avLst>
              <a:gd name="adj" fmla="val 4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3776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>
                <a:solidFill>
                  <a:srgbClr val="43474E"/>
                </a:solidFill>
                <a:latin typeface="Heebo"/>
              </a:rPr>
              <a:t>המספרים יוצגו ידנית בפגישה.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3474E"/>
                </a:solidFill>
                <a:latin typeface="Inter"/>
              </a:rPr>
              <a:t>6 /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000" b="0">
                <a:solidFill>
                  <a:srgbClr val="43474E"/>
                </a:solidFill>
                <a:latin typeface="Inter"/>
              </a:rPr>
              <a:t>Safe Capital · סייף קפיטל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200" b="1">
                <a:solidFill>
                  <a:srgbClr val="984349"/>
                </a:solidFill>
                <a:latin typeface="Inter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4000" b="1">
                <a:solidFill>
                  <a:srgbClr val="022445"/>
                </a:solidFill>
                <a:latin typeface="Heebo"/>
              </a:rPr>
              <a:t>העסקה הקונקרטית — היום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800" b="0">
                <a:solidFill>
                  <a:srgbClr val="43474E"/>
                </a:solidFill>
                <a:latin typeface="Heebo"/>
              </a:rPr>
              <a:t>הנכס שאנחנו מציעים למשקיע בעסקה הנוכחית. הנתונים מהאתר.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1760"/>
            <a:ext cx="1110996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834640"/>
            <a:ext cx="10607040" cy="1280160"/>
          </a:xfrm>
          <a:prstGeom prst="roundRect">
            <a:avLst>
              <a:gd name="adj" fmla="val 4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1">
                <a:solidFill>
                  <a:srgbClr val="984349"/>
                </a:solidFill>
                <a:latin typeface="Inter"/>
              </a:rPr>
              <a:t>גיוס בעיצומו · 12 חודשים · ROI 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800" b="1">
                <a:solidFill>
                  <a:srgbClr val="022445"/>
                </a:solidFill>
                <a:latin typeface="Inter"/>
              </a:rPr>
              <a:t>1513 Oxmoor 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033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0">
                <a:solidFill>
                  <a:srgbClr val="43474E"/>
                </a:solidFill>
                <a:latin typeface="Inter"/>
              </a:rPr>
              <a:t>1513 Oxmoor Road, Birmingham, AL 35209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348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>
                <a:solidFill>
                  <a:srgbClr val="43474E"/>
                </a:solidFill>
                <a:latin typeface="Heebo"/>
              </a:rPr>
              <a:t>מחיר רכישה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7548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400" b="1">
                <a:solidFill>
                  <a:srgbClr val="022445"/>
                </a:solidFill>
                <a:latin typeface="Inter"/>
              </a:rPr>
              <a:t>$475,000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44348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>
                <a:solidFill>
                  <a:srgbClr val="43474E"/>
                </a:solidFill>
                <a:latin typeface="Heebo"/>
              </a:rPr>
              <a:t>ARV / מכירה צפויה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47548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400" b="1">
                <a:solidFill>
                  <a:srgbClr val="022445"/>
                </a:solidFill>
                <a:latin typeface="Inter"/>
              </a:rPr>
              <a:t>$1,650,000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5624" y="44348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>
                <a:solidFill>
                  <a:srgbClr val="43474E"/>
                </a:solidFill>
                <a:latin typeface="Heebo"/>
              </a:rPr>
              <a:t>צפי רווח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35624" y="47548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400" b="1">
                <a:solidFill>
                  <a:srgbClr val="984349"/>
                </a:solidFill>
                <a:latin typeface="Inter"/>
              </a:rPr>
              <a:t>$211,461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14816" y="44348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>
                <a:solidFill>
                  <a:srgbClr val="43474E"/>
                </a:solidFill>
                <a:latin typeface="Heebo"/>
              </a:rPr>
              <a:t>תשואה למשקיע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14816" y="47548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400" b="1">
                <a:solidFill>
                  <a:srgbClr val="984349"/>
                </a:solidFill>
                <a:latin typeface="Inter"/>
              </a:rPr>
              <a:t>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57784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200" b="0">
                <a:solidFill>
                  <a:srgbClr val="43474E"/>
                </a:solidFill>
                <a:latin typeface="Heebo"/>
              </a:rPr>
              <a:t>נכס יוקרתי בשכונת Oxmoor, בירמינגהם — שיפוץ מקיף, מכירה צפויה תוך 12 חודשים, פוטנציאל השבחה משמעותי.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3474E"/>
                </a:solidFill>
                <a:latin typeface="Inter"/>
              </a:rPr>
              <a:t>7 /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000" b="0">
                <a:solidFill>
                  <a:srgbClr val="43474E"/>
                </a:solidFill>
                <a:latin typeface="Inter"/>
              </a:rPr>
              <a:t>Safe Capital · סייף קפיטל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200" b="1">
                <a:solidFill>
                  <a:srgbClr val="984349"/>
                </a:solidFill>
                <a:latin typeface="Inter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4000" b="1">
                <a:solidFill>
                  <a:srgbClr val="022445"/>
                </a:solidFill>
                <a:latin typeface="Heebo"/>
              </a:rPr>
              <a:t>החוזה — לא מבוסס על אמון בלבד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800" b="0">
                <a:solidFill>
                  <a:srgbClr val="43474E"/>
                </a:solidFill>
                <a:latin typeface="Heebo"/>
              </a:rPr>
              <a:t>מסגרת משפטית ברורה. כל שורה הגיונית, אין שפה מתפלפלת.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1760"/>
            <a:ext cx="54864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400" b="1">
                <a:solidFill>
                  <a:srgbClr val="022445"/>
                </a:solidFill>
                <a:latin typeface="Heebo"/>
              </a:rPr>
              <a:t>סכום, לוח זמנים, תשואה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100" b="0">
                <a:solidFill>
                  <a:srgbClr val="43474E"/>
                </a:solidFill>
                <a:latin typeface="Heebo"/>
              </a:rPr>
              <a:t>$50K (או יותר) · עד 12 חודשים · 20% Preferred Return — שחור על גבי לבן.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651760"/>
            <a:ext cx="54864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7889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400" b="1">
                <a:solidFill>
                  <a:srgbClr val="022445"/>
                </a:solidFill>
                <a:latin typeface="Heebo"/>
              </a:rPr>
              <a:t>2 חודשי חסד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3154680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100" b="0">
                <a:solidFill>
                  <a:srgbClr val="43474E"/>
                </a:solidFill>
                <a:latin typeface="Heebo"/>
              </a:rPr>
              <a:t>אם הפרויקט מתעכב — יש לנו חודשיים לסגור. מעבר לכך, המשקיע יכול לכפות buyout בהנחה.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54864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77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400" b="1">
                <a:solidFill>
                  <a:srgbClr val="022445"/>
                </a:solidFill>
                <a:latin typeface="Heebo"/>
              </a:rPr>
              <a:t>המשקיע מוגן אם נכס לא נמכר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100" b="0">
                <a:solidFill>
                  <a:srgbClr val="43474E"/>
                </a:solidFill>
                <a:latin typeface="Heebo"/>
              </a:rPr>
              <a:t>אנחנו סופגים הפסד מחיר, לא הקרן. המשקיע יוצא ראשון.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840480"/>
            <a:ext cx="54864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977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400" b="1">
                <a:solidFill>
                  <a:srgbClr val="022445"/>
                </a:solidFill>
                <a:latin typeface="Heebo"/>
              </a:rPr>
              <a:t>LLC על שם המשקיע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343400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100" b="0">
                <a:solidFill>
                  <a:srgbClr val="43474E"/>
                </a:solidFill>
                <a:latin typeface="Heebo"/>
              </a:rPr>
              <a:t>לכל עסקה — חברה משפטית נפרדת. שמך על הנייר, יכולת תביעה ישירה.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029200"/>
            <a:ext cx="54864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166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400" b="1">
                <a:solidFill>
                  <a:srgbClr val="022445"/>
                </a:solidFill>
                <a:latin typeface="Heebo"/>
              </a:rPr>
              <a:t>חתימה דיגיטלית או פיזית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32120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100" b="0">
                <a:solidFill>
                  <a:srgbClr val="43474E"/>
                </a:solidFill>
                <a:latin typeface="Heebo"/>
              </a:rPr>
              <a:t>כל מה שנוח. עו״ד ישראלי + עו״ד אמריקאי מלווים את התהליך.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3474E"/>
                </a:solidFill>
                <a:latin typeface="Inter"/>
              </a:rPr>
              <a:t>8 / 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000" b="0">
                <a:solidFill>
                  <a:srgbClr val="43474E"/>
                </a:solidFill>
                <a:latin typeface="Inter"/>
              </a:rPr>
              <a:t>Safe Capital · סייף קפיטל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200" b="1">
                <a:solidFill>
                  <a:srgbClr val="984349"/>
                </a:solidFill>
                <a:latin typeface="Inter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4000" b="1">
                <a:solidFill>
                  <a:srgbClr val="022445"/>
                </a:solidFill>
                <a:latin typeface="Heebo"/>
              </a:rPr>
              <a:t>איך הכסף זז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800" b="0">
                <a:solidFill>
                  <a:srgbClr val="43474E"/>
                </a:solidFill>
                <a:latin typeface="Heebo"/>
              </a:rPr>
              <a:t>פנימה והחוצה. שום דבר מוסתר.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1760"/>
            <a:ext cx="1110996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1">
                <a:solidFill>
                  <a:srgbClr val="984349"/>
                </a:solidFill>
                <a:latin typeface="Inter"/>
              </a:rPr>
              <a:t>A · תזרים פנימה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200" b="0">
                <a:solidFill>
                  <a:srgbClr val="43474E"/>
                </a:solidFill>
                <a:latin typeface="Heebo"/>
              </a:rPr>
              <a:t>• המשקיע מעביר את הכסף תוך 10 ימים מחתימה  · חשבון בנק ייעודי לכל פרויקט</a:t>
            </a:r>
          </a:p>
          <a:p>
            <a:pPr algn="r" rtl="1">
              <a:lnSpc>
                <a:spcPct val="150000"/>
              </a:lnSpc>
            </a:pPr>
            <a:r>
              <a:rPr sz="1200" b="0">
                <a:solidFill>
                  <a:srgbClr val="43474E"/>
                </a:solidFill>
                <a:latin typeface="Heebo"/>
              </a:rPr>
              <a:t>• המרה ל-USD על המשקיע · עמלות לפי החוזה  · איחור — לפי הקבוע בחוזה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11109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1">
                <a:solidFill>
                  <a:srgbClr val="984349"/>
                </a:solidFill>
                <a:latin typeface="Inter"/>
              </a:rPr>
              <a:t>B · בסוף עסקה — 3 אפשרויות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89120"/>
            <a:ext cx="3657600" cy="1280160"/>
          </a:xfrm>
          <a:prstGeom prst="roundRect">
            <a:avLst>
              <a:gd name="adj" fmla="val 4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4805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200" b="1">
                <a:solidFill>
                  <a:srgbClr val="984349"/>
                </a:solidFill>
                <a:latin typeface="Inter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300" b="1">
                <a:solidFill>
                  <a:srgbClr val="022445"/>
                </a:solidFill>
                <a:latin typeface="Heebo"/>
              </a:rPr>
              <a:t>השאר הכל בחשבון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663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000" b="0">
                <a:solidFill>
                  <a:srgbClr val="43474E"/>
                </a:solidFill>
                <a:latin typeface="Heebo"/>
              </a:rPr>
              <a:t>קרן + רווח נשארים, נכנסים ישר לעסקה הבאה. רק מס משולם.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4389120"/>
            <a:ext cx="3657600" cy="1280160"/>
          </a:xfrm>
          <a:prstGeom prst="roundRect">
            <a:avLst>
              <a:gd name="adj" fmla="val 4000"/>
            </a:avLst>
          </a:prstGeom>
          <a:solidFill>
            <a:srgbClr val="02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44805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200" b="1">
                <a:solidFill>
                  <a:srgbClr val="B35158"/>
                </a:solidFill>
                <a:latin typeface="Inte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8463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300" b="1">
                <a:solidFill>
                  <a:srgbClr val="FBF9F6"/>
                </a:solidFill>
                <a:latin typeface="Heebo"/>
              </a:rPr>
              <a:t>משוך רווח, השאר קרן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51663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000" b="0">
                <a:solidFill>
                  <a:srgbClr val="CCC8C0"/>
                </a:solidFill>
                <a:latin typeface="Heebo"/>
              </a:rPr>
              <a:t>הקרן ממשיכה לעבוד. הרווח חוזר ל-IBAN בישראל. מס משולם.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4389120"/>
            <a:ext cx="3657600" cy="1280160"/>
          </a:xfrm>
          <a:prstGeom prst="roundRect">
            <a:avLst>
              <a:gd name="adj" fmla="val 4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44805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2200" b="1">
                <a:solidFill>
                  <a:srgbClr val="984349"/>
                </a:solidFill>
                <a:latin typeface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8463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300" b="1">
                <a:solidFill>
                  <a:srgbClr val="022445"/>
                </a:solidFill>
                <a:latin typeface="Heebo"/>
              </a:rPr>
              <a:t>משוך הכל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51663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000" b="0">
                <a:solidFill>
                  <a:srgbClr val="43474E"/>
                </a:solidFill>
                <a:latin typeface="Heebo"/>
              </a:rPr>
              <a:t>קרן + רווח חוזרים בחזרה לישראל. מס משולם. בלי שאלות.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806440"/>
            <a:ext cx="11109960" cy="594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85216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000" b="1">
                <a:solidFill>
                  <a:srgbClr val="984349"/>
                </a:solidFill>
                <a:latin typeface="Inter"/>
              </a:rPr>
              <a:t>C · ניהול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08076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00" b="0">
                <a:solidFill>
                  <a:srgbClr val="43474E"/>
                </a:solidFill>
                <a:latin typeface="Heebo"/>
              </a:rPr>
              <a:t>עדכון תזרים בכל אבן דרך — דרך פורטל המשקיעים והווצאפ.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3474E"/>
                </a:solidFill>
                <a:latin typeface="Inter"/>
              </a:rPr>
              <a:t>9 /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000" b="0">
                <a:solidFill>
                  <a:srgbClr val="43474E"/>
                </a:solidFill>
                <a:latin typeface="Inter"/>
              </a:rPr>
              <a:t>Safe Capital · סייף קפיטל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300" b="1">
                <a:solidFill>
                  <a:srgbClr val="B35158"/>
                </a:solidFill>
                <a:latin typeface="Inter"/>
              </a:rPr>
              <a:t>סגירה · ללא לחץ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7200" b="1">
                <a:solidFill>
                  <a:srgbClr val="FBF9F6"/>
                </a:solidFill>
                <a:latin typeface="Heebo"/>
              </a:rPr>
              <a:t>קח את הזמן</a:t>
            </a:r>
          </a:p>
          <a:p>
            <a:pPr algn="r" rtl="1">
              <a:lnSpc>
                <a:spcPct val="115000"/>
              </a:lnSpc>
            </a:pPr>
            <a:r>
              <a:rPr sz="7200" b="1">
                <a:solidFill>
                  <a:srgbClr val="FBF9F6"/>
                </a:solidFill>
                <a:latin typeface="Heebo"/>
              </a:rPr>
              <a:t>לחשוב על זה.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377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60000"/>
              </a:lnSpc>
            </a:pPr>
            <a:r>
              <a:rPr sz="1800" b="0">
                <a:solidFill>
                  <a:srgbClr val="CCC8C0"/>
                </a:solidFill>
                <a:latin typeface="Heebo"/>
              </a:rPr>
              <a:t>תישן על זה לילה או שניים. תתייעץ עם מי שצריך.</a:t>
            </a:r>
          </a:p>
          <a:p>
            <a:pPr algn="r" rtl="1">
              <a:lnSpc>
                <a:spcPct val="160000"/>
              </a:lnSpc>
            </a:pPr>
            <a:r>
              <a:rPr sz="1800" b="0">
                <a:solidFill>
                  <a:srgbClr val="CCC8C0"/>
                </a:solidFill>
                <a:latin typeface="Heebo"/>
              </a:rPr>
              <a:t>אנחנו לא מחפשים חתימה עכשיו — ניצור איתך קשר בעוד יומיים.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000" b="0">
                <a:solidFill>
                  <a:srgbClr val="BBB8B0"/>
                </a:solidFill>
                <a:latin typeface="Inter"/>
              </a:rPr>
              <a:t>Safe Capital · סייף קפיטל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457200"/>
          </a:xfrm>
          <a:prstGeom prst="roundRect">
            <a:avLst>
              <a:gd name="adj" fmla="val 4000"/>
            </a:avLst>
          </a:prstGeom>
          <a:solidFill>
            <a:srgbClr val="984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FBF9F6"/>
                </a:solidFill>
                <a:latin typeface="Inter"/>
              </a:rPr>
              <a:t>⚠  INTERNAL — DO NOT SHOW  ·  דף הכנה לשלומי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200" b="1">
                <a:solidFill>
                  <a:srgbClr val="984349"/>
                </a:solidFill>
                <a:latin typeface="Inter"/>
              </a:rPr>
              <a:t>תשובות מוכנות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3000" b="1">
                <a:solidFill>
                  <a:srgbClr val="022445"/>
                </a:solidFill>
                <a:latin typeface="Heebo"/>
              </a:rPr>
              <a:t>7 ההתנגדויות הנפוצות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200" b="1">
                <a:solidFill>
                  <a:srgbClr val="984349"/>
                </a:solidFill>
                <a:latin typeface="Heebo"/>
              </a:rPr>
              <a:t>1. עיכוב בלוח זמנים — השיפוץ לוקח יותר זמן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000" b="0">
                <a:solidFill>
                  <a:srgbClr val="43474E"/>
                </a:solidFill>
                <a:latin typeface="Heebo"/>
              </a:rPr>
              <a:t>חוזית: 2 חודשי חסד. אם עובר 3 חודשים מהדדליין — המשקיע יכול לכפות buyout בהנחה.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9164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7830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200" b="1">
                <a:solidFill>
                  <a:srgbClr val="984349"/>
                </a:solidFill>
                <a:latin typeface="Heebo"/>
              </a:rPr>
              <a:t>2. הנכס לא נמכר / נתקע בשוק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0312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000" b="0">
                <a:solidFill>
                  <a:srgbClr val="43474E"/>
                </a:solidFill>
                <a:latin typeface="Heebo"/>
              </a:rPr>
              <a:t>נכסים דומים נמכרים תוך 25 ימים מקסימום. אם נתקע — אנחנו מורידים מחיר וסופגים. הקרן מוגנת.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8036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718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200" b="1">
                <a:solidFill>
                  <a:srgbClr val="984349"/>
                </a:solidFill>
                <a:latin typeface="Heebo"/>
              </a:rPr>
              <a:t>3. איך אני יודע שהכסף שלי באמת הולך לשיפוץ?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000" b="0">
                <a:solidFill>
                  <a:srgbClr val="43474E"/>
                </a:solidFill>
                <a:latin typeface="Heebo"/>
              </a:rPr>
              <a:t>חשבון בנק ייעודי לכל פרויקט. שקיפות מלאה דרך פורטל המשקיעים — רואים כל תזרים.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88036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9718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200" b="1">
                <a:solidFill>
                  <a:srgbClr val="984349"/>
                </a:solidFill>
                <a:latin typeface="Heebo"/>
              </a:rPr>
              <a:t>4. מה אם יש בעיה משפטית או נזק באתר הבנייה?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29184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000" b="0">
                <a:solidFill>
                  <a:srgbClr val="43474E"/>
                </a:solidFill>
                <a:latin typeface="Heebo"/>
              </a:rPr>
              <a:t>אנחנו נמנעים מנכסים בעייתיים מראש. ביטוח בנייה מלא מכסה פציעות או תקריות.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6908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605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200" b="1">
                <a:solidFill>
                  <a:srgbClr val="984349"/>
                </a:solidFill>
                <a:latin typeface="Heebo"/>
              </a:rPr>
              <a:t>5. מסים וציות — האם זה בטוח למשקיע ישראלי?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8056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000" b="0">
                <a:solidFill>
                  <a:srgbClr val="43474E"/>
                </a:solidFill>
                <a:latin typeface="Heebo"/>
              </a:rPr>
              <a:t>אנחנו מטפלים בכל המסמכים. מחברים לרו״ח מומחה — דיווח מס בשתי המדינות.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06908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605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200" b="1">
                <a:solidFill>
                  <a:srgbClr val="984349"/>
                </a:solidFill>
                <a:latin typeface="Heebo"/>
              </a:rPr>
              <a:t>6. מה אם השוק קורס במהלך הפרויקט?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000" b="0">
                <a:solidFill>
                  <a:srgbClr val="43474E"/>
                </a:solidFill>
                <a:latin typeface="Heebo"/>
              </a:rPr>
              <a:t>עסקאות קצרות = תנודות שוק לא מספיקות לפגוע. קונים מתחת לשוק. המשקיע ראשון על הרווח.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25780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3492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200" b="1">
                <a:solidFill>
                  <a:srgbClr val="984349"/>
                </a:solidFill>
                <a:latin typeface="Heebo"/>
              </a:rPr>
              <a:t>7. מה אם תיעלמו / משהו יקרה לצוות?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66928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000" b="0">
                <a:solidFill>
                  <a:srgbClr val="43474E"/>
                </a:solidFill>
                <a:latin typeface="Heebo"/>
              </a:rPr>
              <a:t>יחסים אישיים (חברים, מילואים יחד) · LLC על שם המשקיע · יכולת לתבוע · עתידית: ערבות בנקאית.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000" b="0">
                <a:solidFill>
                  <a:srgbClr val="43474E"/>
                </a:solidFill>
                <a:latin typeface="Heebo"/>
              </a:rPr>
              <a:t>השקופית הזו לא להצגה — דף הכנה בלבד.</a:t>
            </a:r>
          </a:p>
        </p:txBody>
      </p:sp>
    </p:spTree>
  </p:cSld>
  <p:clrMapOvr>
    <a:masterClrMapping/>
  </p:clrMapOvr>
  <p:show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